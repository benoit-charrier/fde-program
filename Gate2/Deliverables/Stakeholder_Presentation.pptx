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making time for this. Today I'll walk you through what we found across your billing dispute process, what we think is worth building, and — critically — where we need your input before any build begins. This is not a pitch for AI. It's a structured look at where a well-scoped agent would actually save time and close a compliance gap that already exists in your process today, followed by an honest conversation about the decisions you need to make 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move through five sections. The first two are about what we observed. The third is our recommendation. The fourth is where I'll need your answers — not hypotheticals, but specific operational facts that change what we build. The fifth is a concrete action list. I'll leave time for open discussion before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what we found in billing disputes specifically, I want to be transparent about how we chose to focus there. We looked at all four work streams and applied a consistent assessment lens — volume, complexity, system readiness, and compliance risk. Dispatch adjustments score highly on complexity but the dispatch console is a Citrix-hosted Java application with no confirmed API surface, and building a brittle integration there would recreate exactly the failure mode of the 2024 RPA. ETA inquiries are your highest-volume work stream but they're mostly a lookup — that's an automation, not an agent. Billing disputes is where complexity, compliance risk, and confirmed data access converge. That's why it's the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2024 chatbot and the billing RPA are in the room. I want to address them directly: both failed for specific, diagnosable reasons — the chatbot was customer-facing without a clear job to do, and the RPA broke because Aurum's data format changed without warning. What we're recommending today is different in both scope and design, and I'll show you specifically what we've built in to prevent the Aurum schema failure from happening again. But first, let me show you what the process actually looks like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I've drawn is based on actual case records, not the SOP. The SOP references DispatchHub, which was retired eighteen months ago, and the section covering damaged consignments is blank — marked TBD. So your team is resolving sixty cases a day against no documented policy and using a system that wasn't designed to give them the information they need at the time they need it. The result is what you see in that internal note on the Hayes &amp; Sons case: a credit applied with no record of who approved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hotspot is the one an agent fixes most directly and most safely — data assembly is not a judgment call, it's a retrieval task that takes time because the systems aren't integrated. The second hotspot is the one that requires a policy decision from you before we can build anything. The third hotspot is the reason the compliance argument for this agent is as strong as the efficiency argument — we're not just saving time, we're closing a gap that's already creating audit exposure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column is not a shortlist of things we couldn't figure out how to automate. It's where the design draws a deliberate line. The credit amount decision needs a written policy before any agent can apply it consistently — and that policy doesn't exist yet, which is one of the decisions I'll come back to. The approval gate is different: that's a system constraint we're building in as a hard rule. The agent physically cannot write a credit record until a named human has authenticated and confirmed it in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shows why billing disputes is the right first target. It has the highest combination of case complexity and daily volume — not so high in volume that it's already been automated, but high enough in complexity that it genuinely needs an agent rather than a simple automation script. ETA inquiries are high volume but low complexity — closer to a lookup than an agent. Dispatch adjustments score similarly to billing disputes, but the dispatch console runs on Citrix and doesn't have a confirmed API surface, so building there would risk recreating exactly the brittle integration that broke in 2024.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agent replaces is the data assembly and the audit trail enforcement — the parts of Sandra's job that take the most time but require the least judgment. What it does not replace is the part that actually requires Sandra: deciding whether a credit is warranted, how much, and — in the cases that don't fit the standard types — making a call. The target outcome is that Sandra spends 8 minutes reviewing a pre-assembled case and confirming an amount, rather than 28 minutes rebuilding the picture from scratch and then writing it up informally.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spend a moment on the middle row, because it's the most important one. The reason Sandra's £170 credit appeared in the Artefact 2 case with no audit log entry is that the current process relies on people following a procedure under time pressure. That's a procedure-dependent control — and we've already seen it fail. What we're building is a system-dependent control: the credit record cannot be written until a human has authenticated. That's not a rule we're asking your team to follow. It's a technical constraint.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amber and two reds are not reasons not to build. They're the specific things that need to be resolved before we can commit to a timeline. The Salesforce amber is likely a configuration question — your IT team or Salesforce admin should be able to answer it in a day. The two reds are genuinely blocking: we cannot build the credit recommendation or credit write capability until they're resolved. The good news is that neither requires a new system to be built. One is a policy design decision — who owns it, and what are the rules. The other is a question for your Aurum vendor that we'd like to ask together.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clear about why these are the five questions and not others. We're not asking about your systems — we have the Aurum exports and the CRM data. We're not asking about volumes — they're in the scenario. These five are the ones where the answer materially changes what we build. The credit policy question is the most important: if the answer is that no policy exists and you're not sure who would own writing one, that changes the build timeline more than any technical question. I'd like to spend most of our discussion time on questions two and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prompts are the places where the assessment surfaces tensions that can't be resolved with better data — they need a decision from this room. The first one is about change management: I'd rather have that conversation now than discover it during rollout. The second is a genuine fork in the build design with real cost and timeline differences. The third is the most important: if there is a version of a credit policy somewhere — a finance memo, a management email, even a whiteboard photo — that's a very different starting point than writing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actions are discovery — they can happen in parallel and in under two weeks if the right people are in the room. The third is the most consequential: it's not a task we can do for you, but we can provide the template and the framing. The fourth is the pre-deployment safety requirement — we will not deploy an agent that makes autonomous validity assessments until we've validated its confidence scores against 150 real cases labelled by your own senior agents. That's the answer to the question about what's different this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question the assessment set out to answer: can a targeted agent reduce dispute handling time, close the compliance gap, and give Apex an auditable trace of every credit decision without repeating the failures of 2024? The answer is yes — but only if the two blocking gaps are resolved first. Those are your decisions, and I'd like to leave this room with clarity on who owns each one and what the timeline 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645920"/>
            <a:ext cx="3566160" cy="640080"/>
          </a:xfrm>
          <a:prstGeom prst="rect">
            <a:avLst/>
          </a:prstGeom>
          <a:noFill/>
        </p:spPr>
        <p:txBody>
          <a:bodyPr wrap="square">
            <a:spAutoFit/>
          </a:bodyPr>
          <a:lstStyle/>
          <a:p>
            <a:pPr algn="l"/>
            <a:r>
              <a:rPr sz="2200" b="1">
                <a:solidFill>
                  <a:srgbClr val="FFFFFF"/>
                </a:solidFill>
              </a:rPr>
              <a:t>Apex Distribution Ltd</a:t>
            </a:r>
          </a:p>
        </p:txBody>
      </p:sp>
      <p:sp>
        <p:nvSpPr>
          <p:cNvPr id="4" name="TextBox 3"/>
          <p:cNvSpPr txBox="1"/>
          <p:nvPr/>
        </p:nvSpPr>
        <p:spPr>
          <a:xfrm>
            <a:off x="274320" y="2331720"/>
            <a:ext cx="3566160" cy="457200"/>
          </a:xfrm>
          <a:prstGeom prst="rect">
            <a:avLst/>
          </a:prstGeom>
          <a:noFill/>
        </p:spPr>
        <p:txBody>
          <a:bodyPr wrap="square">
            <a:spAutoFit/>
          </a:bodyPr>
          <a:lstStyle/>
          <a:p>
            <a:pPr algn="l"/>
            <a:r>
              <a:rPr sz="1400" b="0">
                <a:solidFill>
                  <a:srgbClr val="AACCEE"/>
                </a:solidFill>
              </a:rPr>
              <a:t>Customer Operations — Billing Disputes</a:t>
            </a:r>
          </a:p>
        </p:txBody>
      </p:sp>
      <p:sp>
        <p:nvSpPr>
          <p:cNvPr id="5" name="TextBox 4"/>
          <p:cNvSpPr txBox="1"/>
          <p:nvPr/>
        </p:nvSpPr>
        <p:spPr>
          <a:xfrm>
            <a:off x="4572000" y="2011680"/>
            <a:ext cx="7132320" cy="1371600"/>
          </a:xfrm>
          <a:prstGeom prst="rect">
            <a:avLst/>
          </a:prstGeom>
          <a:noFill/>
        </p:spPr>
        <p:txBody>
          <a:bodyPr wrap="square">
            <a:spAutoFit/>
          </a:bodyPr>
          <a:lstStyle/>
          <a:p>
            <a:pPr algn="l"/>
            <a:r>
              <a:rPr sz="3400" b="1">
                <a:solidFill>
                  <a:srgbClr val="1A2E44"/>
                </a:solidFill>
              </a:rPr>
              <a:t>Assessment Findings
&amp; Proposed Solution</a:t>
            </a:r>
          </a:p>
        </p:txBody>
      </p:sp>
      <p:sp>
        <p:nvSpPr>
          <p:cNvPr id="6" name="TextBox 5"/>
          <p:cNvSpPr txBox="1"/>
          <p:nvPr/>
        </p:nvSpPr>
        <p:spPr>
          <a:xfrm>
            <a:off x="4572000" y="3657600"/>
            <a:ext cx="7132320" cy="822960"/>
          </a:xfrm>
          <a:prstGeom prst="rect">
            <a:avLst/>
          </a:prstGeom>
          <a:noFill/>
        </p:spPr>
        <p:txBody>
          <a:bodyPr wrap="square">
            <a:spAutoFit/>
          </a:bodyPr>
          <a:lstStyle/>
          <a:p>
            <a:pPr algn="l"/>
            <a:r>
              <a:rPr sz="1400" b="0">
                <a:solidFill>
                  <a:srgbClr val="444444"/>
                </a:solidFill>
              </a:rPr>
              <a:t>Date: [DATE]
Presenter: [NAME], Field Deployment Engineer</a:t>
            </a:r>
          </a:p>
        </p:txBody>
      </p:sp>
      <p:sp>
        <p:nvSpPr>
          <p:cNvPr id="7" name="TextBox 6"/>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Agenda</a:t>
            </a:r>
          </a:p>
        </p:txBody>
      </p:sp>
      <p:sp>
        <p:nvSpPr>
          <p:cNvPr id="3" name="TextBox 2"/>
          <p:cNvSpPr txBox="1"/>
          <p:nvPr/>
        </p:nvSpPr>
        <p:spPr>
          <a:xfrm>
            <a:off x="548640" y="1508760"/>
            <a:ext cx="11064240" cy="411480"/>
          </a:xfrm>
          <a:prstGeom prst="rect">
            <a:avLst/>
          </a:prstGeom>
          <a:noFill/>
        </p:spPr>
        <p:txBody>
          <a:bodyPr wrap="square">
            <a:spAutoFit/>
          </a:bodyPr>
          <a:lstStyle/>
          <a:p>
            <a:pPr algn="l"/>
            <a:r>
              <a:rPr sz="1800" b="0">
                <a:solidFill>
                  <a:srgbClr val="444444"/>
                </a:solidFill>
              </a:rPr>
              <a:t>1.  The business problem — what triggered this assessment</a:t>
            </a:r>
          </a:p>
        </p:txBody>
      </p:sp>
      <p:sp>
        <p:nvSpPr>
          <p:cNvPr id="4" name="TextBox 3"/>
          <p:cNvSpPr txBox="1"/>
          <p:nvPr/>
        </p:nvSpPr>
        <p:spPr>
          <a:xfrm>
            <a:off x="548640" y="2221992"/>
            <a:ext cx="11064240" cy="411480"/>
          </a:xfrm>
          <a:prstGeom prst="rect">
            <a:avLst/>
          </a:prstGeom>
          <a:noFill/>
        </p:spPr>
        <p:txBody>
          <a:bodyPr wrap="square">
            <a:spAutoFit/>
          </a:bodyPr>
          <a:lstStyle/>
          <a:p>
            <a:pPr algn="l"/>
            <a:r>
              <a:rPr sz="1800" b="0">
                <a:solidFill>
                  <a:srgbClr val="444444"/>
                </a:solidFill>
              </a:rPr>
              <a:t>2.  What we found — how the work flows today and where it gets stuck</a:t>
            </a:r>
          </a:p>
        </p:txBody>
      </p:sp>
      <p:sp>
        <p:nvSpPr>
          <p:cNvPr id="5" name="TextBox 4"/>
          <p:cNvSpPr txBox="1"/>
          <p:nvPr/>
        </p:nvSpPr>
        <p:spPr>
          <a:xfrm>
            <a:off x="548640" y="2935224"/>
            <a:ext cx="11064240" cy="411480"/>
          </a:xfrm>
          <a:prstGeom prst="rect">
            <a:avLst/>
          </a:prstGeom>
          <a:noFill/>
        </p:spPr>
        <p:txBody>
          <a:bodyPr wrap="square">
            <a:spAutoFit/>
          </a:bodyPr>
          <a:lstStyle/>
          <a:p>
            <a:pPr algn="l"/>
            <a:r>
              <a:rPr sz="1800" b="0">
                <a:solidFill>
                  <a:srgbClr val="444444"/>
                </a:solidFill>
              </a:rPr>
              <a:t>3.  What we recommend — a targeted agent for billing disputes</a:t>
            </a:r>
          </a:p>
        </p:txBody>
      </p:sp>
      <p:sp>
        <p:nvSpPr>
          <p:cNvPr id="6" name="TextBox 5"/>
          <p:cNvSpPr txBox="1"/>
          <p:nvPr/>
        </p:nvSpPr>
        <p:spPr>
          <a:xfrm>
            <a:off x="548640" y="3648456"/>
            <a:ext cx="11064240" cy="411480"/>
          </a:xfrm>
          <a:prstGeom prst="rect">
            <a:avLst/>
          </a:prstGeom>
          <a:noFill/>
        </p:spPr>
        <p:txBody>
          <a:bodyPr wrap="square">
            <a:spAutoFit/>
          </a:bodyPr>
          <a:lstStyle/>
          <a:p>
            <a:pPr algn="l"/>
            <a:r>
              <a:rPr sz="1800" b="0">
                <a:solidFill>
                  <a:srgbClr val="444444"/>
                </a:solidFill>
              </a:rPr>
              <a:t>4.  Decisions we need from you — five questions that determine the design</a:t>
            </a:r>
          </a:p>
        </p:txBody>
      </p:sp>
      <p:sp>
        <p:nvSpPr>
          <p:cNvPr id="7" name="TextBox 6"/>
          <p:cNvSpPr txBox="1"/>
          <p:nvPr/>
        </p:nvSpPr>
        <p:spPr>
          <a:xfrm>
            <a:off x="548640" y="4361688"/>
            <a:ext cx="11064240" cy="411480"/>
          </a:xfrm>
          <a:prstGeom prst="rect">
            <a:avLst/>
          </a:prstGeom>
          <a:noFill/>
        </p:spPr>
        <p:txBody>
          <a:bodyPr wrap="square">
            <a:spAutoFit/>
          </a:bodyPr>
          <a:lstStyle/>
          <a:p>
            <a:pPr algn="l"/>
            <a:r>
              <a:rPr sz="1800" b="0">
                <a:solidFill>
                  <a:srgbClr val="444444"/>
                </a:solidFill>
              </a:rPr>
              <a:t>5.  Next steps — four actions before build begins</a:t>
            </a:r>
          </a:p>
        </p:txBody>
      </p:sp>
      <p:sp>
        <p:nvSpPr>
          <p:cNvPr id="8" name="TextBox 7"/>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Four Work Streams — Why We Focused on Billing Disputes</a:t>
            </a:r>
          </a:p>
        </p:txBody>
      </p:sp>
      <p:graphicFrame>
        <p:nvGraphicFramePr>
          <p:cNvPr id="3" name="Table 2"/>
          <p:cNvGraphicFramePr>
            <a:graphicFrameLocks noGrp="1"/>
          </p:cNvGraphicFramePr>
          <p:nvPr/>
        </p:nvGraphicFramePr>
        <p:xfrm>
          <a:off x="274320" y="1417320"/>
          <a:ext cx="11521440" cy="2377440"/>
        </p:xfrm>
        <a:graphic>
          <a:graphicData uri="http://schemas.openxmlformats.org/drawingml/2006/table">
            <a:tbl>
              <a:tblPr firstRow="1" bandRow="1">
                <a:tableStyleId>{5C22544A-7EE6-4342-B048-85BDC9FD1C3A}</a:tableStyleId>
              </a:tblPr>
              <a:tblGrid>
                <a:gridCol w="2194560"/>
                <a:gridCol w="1280160"/>
                <a:gridCol w="1280160"/>
                <a:gridCol w="6766560"/>
              </a:tblGrid>
              <a:tr h="475488">
                <a:tc>
                  <a:txBody>
                    <a:bodyPr/>
                    <a:lstStyle/>
                    <a:p>
                      <a:r>
                        <a:rPr b="1" sz="1200">
                          <a:solidFill>
                            <a:srgbClr val="FFFFFF"/>
                          </a:solidFill>
                        </a:rPr>
                        <a:t>Work stream</a:t>
                      </a:r>
                    </a:p>
                  </a:txBody>
                  <a:tcPr>
                    <a:solidFill>
                      <a:srgbClr val="1A2E44"/>
                    </a:solidFill>
                  </a:tcPr>
                </a:tc>
                <a:tc>
                  <a:txBody>
                    <a:bodyPr/>
                    <a:lstStyle/>
                    <a:p>
                      <a:r>
                        <a:rPr b="1" sz="1200">
                          <a:solidFill>
                            <a:srgbClr val="FFFFFF"/>
                          </a:solidFill>
                        </a:rPr>
                        <a:t>Daily volume</a:t>
                      </a:r>
                    </a:p>
                  </a:txBody>
                  <a:tcPr>
                    <a:solidFill>
                      <a:srgbClr val="1A2E44"/>
                    </a:solidFill>
                  </a:tcPr>
                </a:tc>
                <a:tc>
                  <a:txBody>
                    <a:bodyPr/>
                    <a:lstStyle/>
                    <a:p>
                      <a:r>
                        <a:rPr b="1" sz="1200">
                          <a:solidFill>
                            <a:srgbClr val="FFFFFF"/>
                          </a:solidFill>
                        </a:rPr>
                        <a:t>Time per case</a:t>
                      </a:r>
                    </a:p>
                  </a:txBody>
                  <a:tcPr>
                    <a:solidFill>
                      <a:srgbClr val="1A2E44"/>
                    </a:solidFill>
                  </a:tcPr>
                </a:tc>
                <a:tc>
                  <a:txBody>
                    <a:bodyPr/>
                    <a:lstStyle/>
                    <a:p>
                      <a:r>
                        <a:rPr b="1" sz="1200">
                          <a:solidFill>
                            <a:srgbClr val="FFFFFF"/>
                          </a:solidFill>
                        </a:rPr>
                        <a:t>Assessment outcome</a:t>
                      </a:r>
                    </a:p>
                  </a:txBody>
                  <a:tcPr>
                    <a:solidFill>
                      <a:srgbClr val="1A2E44"/>
                    </a:solidFill>
                  </a:tcPr>
                </a:tc>
              </a:tr>
              <a:tr h="475488">
                <a:tc>
                  <a:txBody>
                    <a:bodyPr/>
                    <a:lstStyle/>
                    <a:p>
                      <a:r>
                        <a:rPr sz="1100" b="0">
                          <a:solidFill>
                            <a:srgbClr val="444444"/>
                          </a:solidFill>
                        </a:rPr>
                        <a:t>ETA inquiries</a:t>
                      </a:r>
                    </a:p>
                  </a:txBody>
                  <a:tcPr/>
                </a:tc>
                <a:tc>
                  <a:txBody>
                    <a:bodyPr/>
                    <a:lstStyle/>
                    <a:p>
                      <a:r>
                        <a:rPr sz="1100" b="0">
                          <a:solidFill>
                            <a:srgbClr val="444444"/>
                          </a:solidFill>
                        </a:rPr>
                        <a:t>~400/day</a:t>
                      </a:r>
                    </a:p>
                  </a:txBody>
                  <a:tcPr/>
                </a:tc>
                <a:tc>
                  <a:txBody>
                    <a:bodyPr/>
                    <a:lstStyle/>
                    <a:p>
                      <a:r>
                        <a:rPr sz="1100" b="0">
                          <a:solidFill>
                            <a:srgbClr val="444444"/>
                          </a:solidFill>
                        </a:rPr>
                        <a:t>4 min</a:t>
                      </a:r>
                    </a:p>
                  </a:txBody>
                  <a:tcPr/>
                </a:tc>
                <a:tc>
                  <a:txBody>
                    <a:bodyPr/>
                    <a:lstStyle/>
                    <a:p>
                      <a:r>
                        <a:rPr sz="1100" b="0">
                          <a:solidFill>
                            <a:srgbClr val="444444"/>
                          </a:solidFill>
                        </a:rPr>
                        <a:t>Automation candidate — primarily a lookup task; lower complexity</a:t>
                      </a:r>
                    </a:p>
                  </a:txBody>
                  <a:tcPr/>
                </a:tc>
              </a:tr>
              <a:tr h="475488">
                <a:tc>
                  <a:txBody>
                    <a:bodyPr/>
                    <a:lstStyle/>
                    <a:p>
                      <a:r>
                        <a:rPr sz="1100" b="0">
                          <a:solidFill>
                            <a:srgbClr val="444444"/>
                          </a:solidFill>
                        </a:rPr>
                        <a:t>Delivery exceptions</a:t>
                      </a:r>
                    </a:p>
                  </a:txBody>
                  <a:tcPr/>
                </a:tc>
                <a:tc>
                  <a:txBody>
                    <a:bodyPr/>
                    <a:lstStyle/>
                    <a:p>
                      <a:r>
                        <a:rPr sz="1100" b="0">
                          <a:solidFill>
                            <a:srgbClr val="444444"/>
                          </a:solidFill>
                        </a:rPr>
                        <a:t>~180/day</a:t>
                      </a:r>
                    </a:p>
                  </a:txBody>
                  <a:tcPr/>
                </a:tc>
                <a:tc>
                  <a:txBody>
                    <a:bodyPr/>
                    <a:lstStyle/>
                    <a:p>
                      <a:r>
                        <a:rPr sz="1100" b="0">
                          <a:solidFill>
                            <a:srgbClr val="444444"/>
                          </a:solidFill>
                        </a:rPr>
                        <a:t>12 min</a:t>
                      </a:r>
                    </a:p>
                  </a:txBody>
                  <a:tcPr/>
                </a:tc>
                <a:tc>
                  <a:txBody>
                    <a:bodyPr/>
                    <a:lstStyle/>
                    <a:p>
                      <a:r>
                        <a:rPr sz="1100" b="0">
                          <a:solidFill>
                            <a:srgbClr val="444444"/>
                          </a:solidFill>
                        </a:rPr>
                        <a:t>Future candidate — Driver App integration unconfirmed</a:t>
                      </a:r>
                    </a:p>
                  </a:txBody>
                  <a:tcPr/>
                </a:tc>
              </a:tr>
              <a:tr h="475488">
                <a:tc>
                  <a:txBody>
                    <a:bodyPr/>
                    <a:lstStyle/>
                    <a:p>
                      <a:r>
                        <a:rPr sz="1100" b="0">
                          <a:solidFill>
                            <a:srgbClr val="444444"/>
                          </a:solidFill>
                        </a:rPr>
                        <a:t>Dispatch adjustments</a:t>
                      </a:r>
                    </a:p>
                  </a:txBody>
                  <a:tcPr/>
                </a:tc>
                <a:tc>
                  <a:txBody>
                    <a:bodyPr/>
                    <a:lstStyle/>
                    <a:p>
                      <a:r>
                        <a:rPr sz="1100" b="0">
                          <a:solidFill>
                            <a:srgbClr val="444444"/>
                          </a:solidFill>
                        </a:rPr>
                        <a:t>~90/day</a:t>
                      </a:r>
                    </a:p>
                  </a:txBody>
                  <a:tcPr/>
                </a:tc>
                <a:tc>
                  <a:txBody>
                    <a:bodyPr/>
                    <a:lstStyle/>
                    <a:p>
                      <a:r>
                        <a:rPr sz="1100" b="0">
                          <a:solidFill>
                            <a:srgbClr val="444444"/>
                          </a:solidFill>
                        </a:rPr>
                        <a:t>18 min</a:t>
                      </a:r>
                    </a:p>
                  </a:txBody>
                  <a:tcPr/>
                </a:tc>
                <a:tc>
                  <a:txBody>
                    <a:bodyPr/>
                    <a:lstStyle/>
                    <a:p>
                      <a:r>
                        <a:rPr sz="1100" b="0">
                          <a:solidFill>
                            <a:srgbClr val="444444"/>
                          </a:solidFill>
                        </a:rPr>
                        <a:t>Not yet buildable — dispatch console has no confirmed API</a:t>
                      </a:r>
                    </a:p>
                  </a:txBody>
                  <a:tcPr/>
                </a:tc>
              </a:tr>
              <a:tr h="475488">
                <a:tc>
                  <a:txBody>
                    <a:bodyPr/>
                    <a:lstStyle/>
                    <a:p>
                      <a:r>
                        <a:rPr sz="1100" b="1">
                          <a:solidFill>
                            <a:srgbClr val="1A2E44"/>
                          </a:solidFill>
                        </a:rPr>
                        <a:t>Billing disputes ★</a:t>
                      </a:r>
                    </a:p>
                  </a:txBody>
                  <a:tcPr>
                    <a:solidFill>
                      <a:srgbClr val="E8F1FB"/>
                    </a:solidFill>
                  </a:tcPr>
                </a:tc>
                <a:tc>
                  <a:txBody>
                    <a:bodyPr/>
                    <a:lstStyle/>
                    <a:p>
                      <a:r>
                        <a:rPr sz="1100" b="1">
                          <a:solidFill>
                            <a:srgbClr val="1A2E44"/>
                          </a:solidFill>
                        </a:rPr>
                        <a:t>~60/day</a:t>
                      </a:r>
                    </a:p>
                  </a:txBody>
                  <a:tcPr>
                    <a:solidFill>
                      <a:srgbClr val="E8F1FB"/>
                    </a:solidFill>
                  </a:tcPr>
                </a:tc>
                <a:tc>
                  <a:txBody>
                    <a:bodyPr/>
                    <a:lstStyle/>
                    <a:p>
                      <a:r>
                        <a:rPr sz="1100" b="1">
                          <a:solidFill>
                            <a:srgbClr val="1A2E44"/>
                          </a:solidFill>
                        </a:rPr>
                        <a:t>28 min</a:t>
                      </a:r>
                    </a:p>
                  </a:txBody>
                  <a:tcPr>
                    <a:solidFill>
                      <a:srgbClr val="E8F1FB"/>
                    </a:solidFill>
                  </a:tcPr>
                </a:tc>
                <a:tc>
                  <a:txBody>
                    <a:bodyPr/>
                    <a:lstStyle/>
                    <a:p>
                      <a:r>
                        <a:rPr sz="1100" b="1">
                          <a:solidFill>
                            <a:srgbClr val="1A2E44"/>
                          </a:solidFill>
                        </a:rPr>
                        <a:t>PRIMARY TARGET — highest handle time, compliance gap, confirmed data access</a:t>
                      </a:r>
                    </a:p>
                  </a:txBody>
                  <a:tcPr>
                    <a:solidFill>
                      <a:srgbClr val="E8F1FB"/>
                    </a:solidFill>
                  </a:tcPr>
                </a:tc>
              </a:tr>
            </a:tbl>
          </a:graphicData>
        </a:graphic>
      </p:graphicFrame>
      <p:sp>
        <p:nvSpPr>
          <p:cNvPr id="4" name="TextBox 3"/>
          <p:cNvSpPr txBox="1"/>
          <p:nvPr/>
        </p:nvSpPr>
        <p:spPr>
          <a:xfrm>
            <a:off x="365760" y="3977639"/>
            <a:ext cx="11430000" cy="347472"/>
          </a:xfrm>
          <a:prstGeom prst="rect">
            <a:avLst/>
          </a:prstGeom>
          <a:noFill/>
        </p:spPr>
        <p:txBody>
          <a:bodyPr wrap="square">
            <a:spAutoFit/>
          </a:bodyPr>
          <a:lstStyle/>
          <a:p>
            <a:pPr algn="l"/>
            <a:r>
              <a:rPr sz="1200" b="0">
                <a:solidFill>
                  <a:srgbClr val="444444"/>
                </a:solidFill>
              </a:rPr>
              <a:t>▸  Dispatch adjustments: Citrix-hosted system, no confirmed API — same failure mode as 2024 RPA</a:t>
            </a:r>
          </a:p>
        </p:txBody>
      </p:sp>
      <p:sp>
        <p:nvSpPr>
          <p:cNvPr id="5" name="TextBox 4"/>
          <p:cNvSpPr txBox="1"/>
          <p:nvPr/>
        </p:nvSpPr>
        <p:spPr>
          <a:xfrm>
            <a:off x="365760" y="4361687"/>
            <a:ext cx="11430000" cy="347472"/>
          </a:xfrm>
          <a:prstGeom prst="rect">
            <a:avLst/>
          </a:prstGeom>
          <a:noFill/>
        </p:spPr>
        <p:txBody>
          <a:bodyPr wrap="square">
            <a:spAutoFit/>
          </a:bodyPr>
          <a:lstStyle/>
          <a:p>
            <a:pPr algn="l"/>
            <a:r>
              <a:rPr sz="1200" b="0">
                <a:solidFill>
                  <a:srgbClr val="444444"/>
                </a:solidFill>
              </a:rPr>
              <a:t>▸  ETA inquiries: high volume, low complexity — automation, not an agent (Agentic Value Score 10)</a:t>
            </a:r>
          </a:p>
        </p:txBody>
      </p:sp>
      <p:sp>
        <p:nvSpPr>
          <p:cNvPr id="6" name="TextBox 5"/>
          <p:cNvSpPr txBox="1"/>
          <p:nvPr/>
        </p:nvSpPr>
        <p:spPr>
          <a:xfrm>
            <a:off x="365760" y="4745735"/>
            <a:ext cx="11430000" cy="347472"/>
          </a:xfrm>
          <a:prstGeom prst="rect">
            <a:avLst/>
          </a:prstGeom>
          <a:noFill/>
        </p:spPr>
        <p:txBody>
          <a:bodyPr wrap="square">
            <a:spAutoFit/>
          </a:bodyPr>
          <a:lstStyle/>
          <a:p>
            <a:pPr algn="l"/>
            <a:r>
              <a:rPr sz="1200" b="0">
                <a:solidFill>
                  <a:srgbClr val="444444"/>
                </a:solidFill>
              </a:rPr>
              <a:t>▸  Delivery exceptions: strong future target once Driver App integration is confirmed (score 16, conditional)</a:t>
            </a:r>
          </a:p>
        </p:txBody>
      </p:sp>
      <p:sp>
        <p:nvSpPr>
          <p:cNvPr id="7" name="TextBox 6"/>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Why We Are Here — The Business Problem</a:t>
            </a:r>
          </a:p>
        </p:txBody>
      </p:sp>
      <p:sp>
        <p:nvSpPr>
          <p:cNvPr id="3" name="TextBox 2"/>
          <p:cNvSpPr txBox="1"/>
          <p:nvPr/>
        </p:nvSpPr>
        <p:spPr>
          <a:xfrm>
            <a:off x="548640" y="1508760"/>
            <a:ext cx="11064240" cy="347472"/>
          </a:xfrm>
          <a:prstGeom prst="rect">
            <a:avLst/>
          </a:prstGeom>
          <a:noFill/>
        </p:spPr>
        <p:txBody>
          <a:bodyPr wrap="square">
            <a:spAutoFit/>
          </a:bodyPr>
          <a:lstStyle/>
          <a:p>
            <a:pPr algn="l"/>
            <a:r>
              <a:rPr sz="1600" b="1">
                <a:solidFill>
                  <a:srgbClr val="1A2E44"/>
                </a:solidFill>
              </a:rPr>
              <a:t>60 billing disputes per day at 28 min each</a:t>
            </a:r>
          </a:p>
        </p:txBody>
      </p:sp>
      <p:sp>
        <p:nvSpPr>
          <p:cNvPr id="4" name="TextBox 3"/>
          <p:cNvSpPr txBox="1"/>
          <p:nvPr/>
        </p:nvSpPr>
        <p:spPr>
          <a:xfrm>
            <a:off x="822960" y="1856232"/>
            <a:ext cx="10789920" cy="384048"/>
          </a:xfrm>
          <a:prstGeom prst="rect">
            <a:avLst/>
          </a:prstGeom>
          <a:noFill/>
        </p:spPr>
        <p:txBody>
          <a:bodyPr wrap="square">
            <a:spAutoFit/>
          </a:bodyPr>
          <a:lstStyle/>
          <a:p>
            <a:pPr algn="l"/>
            <a:r>
              <a:rPr sz="1400" b="0">
                <a:solidFill>
                  <a:srgbClr val="444444"/>
                </a:solidFill>
              </a:rPr>
              <a:t>Highest handle time in Customer Operations — absorbing 1,600+ minutes of skilled agent time daily with no structured support</a:t>
            </a:r>
          </a:p>
        </p:txBody>
      </p:sp>
      <p:sp>
        <p:nvSpPr>
          <p:cNvPr id="5" name="TextBox 4"/>
          <p:cNvSpPr txBox="1"/>
          <p:nvPr/>
        </p:nvSpPr>
        <p:spPr>
          <a:xfrm>
            <a:off x="548640" y="2359152"/>
            <a:ext cx="11064240" cy="347472"/>
          </a:xfrm>
          <a:prstGeom prst="rect">
            <a:avLst/>
          </a:prstGeom>
          <a:noFill/>
        </p:spPr>
        <p:txBody>
          <a:bodyPr wrap="square">
            <a:spAutoFit/>
          </a:bodyPr>
          <a:lstStyle/>
          <a:p>
            <a:pPr algn="l"/>
            <a:r>
              <a:rPr sz="1600" b="1">
                <a:solidFill>
                  <a:srgbClr val="1A2E44"/>
                </a:solidFill>
              </a:rPr>
              <a:t>Credits applied without an audit trail</a:t>
            </a:r>
          </a:p>
        </p:txBody>
      </p:sp>
      <p:sp>
        <p:nvSpPr>
          <p:cNvPr id="6" name="TextBox 5"/>
          <p:cNvSpPr txBox="1"/>
          <p:nvPr/>
        </p:nvSpPr>
        <p:spPr>
          <a:xfrm>
            <a:off x="822960" y="2706624"/>
            <a:ext cx="10789920" cy="384048"/>
          </a:xfrm>
          <a:prstGeom prst="rect">
            <a:avLst/>
          </a:prstGeom>
          <a:noFill/>
        </p:spPr>
        <p:txBody>
          <a:bodyPr wrap="square">
            <a:spAutoFit/>
          </a:bodyPr>
          <a:lstStyle/>
          <a:p>
            <a:pPr algn="l"/>
            <a:r>
              <a:rPr sz="1400" b="0">
                <a:solidFill>
                  <a:srgbClr val="444444"/>
                </a:solidFill>
              </a:rPr>
              <a:t>Live case records show at least one £170 credit applied with no named approver and no audit log entry (Artefact 2, D3)</a:t>
            </a:r>
          </a:p>
        </p:txBody>
      </p:sp>
      <p:sp>
        <p:nvSpPr>
          <p:cNvPr id="7" name="TextBox 6"/>
          <p:cNvSpPr txBox="1"/>
          <p:nvPr/>
        </p:nvSpPr>
        <p:spPr>
          <a:xfrm>
            <a:off x="548640" y="3209544"/>
            <a:ext cx="11064240" cy="347472"/>
          </a:xfrm>
          <a:prstGeom prst="rect">
            <a:avLst/>
          </a:prstGeom>
          <a:noFill/>
        </p:spPr>
        <p:txBody>
          <a:bodyPr wrap="square">
            <a:spAutoFit/>
          </a:bodyPr>
          <a:lstStyle/>
          <a:p>
            <a:pPr algn="l"/>
            <a:r>
              <a:rPr sz="1600" b="1">
                <a:solidFill>
                  <a:srgbClr val="1A2E44"/>
                </a:solidFill>
              </a:rPr>
              <a:t>Competitor benchmark: £1.2M annualised saving</a:t>
            </a:r>
          </a:p>
        </p:txBody>
      </p:sp>
      <p:sp>
        <p:nvSpPr>
          <p:cNvPr id="8" name="TextBox 7"/>
          <p:cNvSpPr txBox="1"/>
          <p:nvPr/>
        </p:nvSpPr>
        <p:spPr>
          <a:xfrm>
            <a:off x="822960" y="3557016"/>
            <a:ext cx="10789920" cy="384048"/>
          </a:xfrm>
          <a:prstGeom prst="rect">
            <a:avLst/>
          </a:prstGeom>
          <a:noFill/>
        </p:spPr>
        <p:txBody>
          <a:bodyPr wrap="square">
            <a:spAutoFit/>
          </a:bodyPr>
          <a:lstStyle/>
          <a:p>
            <a:pPr algn="l"/>
            <a:r>
              <a:rPr sz="1400" b="0">
                <a:solidFill>
                  <a:srgbClr val="444444"/>
                </a:solidFill>
              </a:rPr>
              <a:t>CEO has asked whether Apex can achieve something comparable (scenario_context.md)</a:t>
            </a:r>
          </a:p>
        </p:txBody>
      </p:sp>
      <p:sp>
        <p:nvSpPr>
          <p:cNvPr id="9" name="Rectangle 8"/>
          <p:cNvSpPr/>
          <p:nvPr/>
        </p:nvSpPr>
        <p:spPr>
          <a:xfrm>
            <a:off x="365760" y="5120640"/>
            <a:ext cx="11155680" cy="822960"/>
          </a:xfrm>
          <a:prstGeom prst="rect">
            <a:avLst/>
          </a:prstGeom>
          <a:solidFill>
            <a:srgbClr val="E8F1FB"/>
          </a:solidFill>
          <a:ln>
            <a:solidFill>
              <a:srgbClr val="1F61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166360"/>
            <a:ext cx="10972800" cy="749808"/>
          </a:xfrm>
          <a:prstGeom prst="rect">
            <a:avLst/>
          </a:prstGeom>
          <a:noFill/>
        </p:spPr>
        <p:txBody>
          <a:bodyPr wrap="square">
            <a:spAutoFit/>
          </a:bodyPr>
          <a:lstStyle/>
          <a:p>
            <a:pPr algn="l"/>
            <a:r>
              <a:rPr sz="1300" b="0">
                <a:solidFill>
                  <a:srgbClr val="1A2E44"/>
                </a:solidFill>
              </a:rPr>
              <a:t>Assessment question: Can a targeted agent reduce dispute handling time, close the compliance gap, and give Apex an auditable trace of every credit decision — without repeating the failures of 2024?</a:t>
            </a:r>
          </a:p>
        </p:txBody>
      </p:sp>
      <p:sp>
        <p:nvSpPr>
          <p:cNvPr id="11" name="TextBox 10"/>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How the Work Actually Flows Today</a:t>
            </a:r>
          </a:p>
        </p:txBody>
      </p:sp>
      <p:sp>
        <p:nvSpPr>
          <p:cNvPr id="3" name="Rectangle 2"/>
          <p:cNvSpPr/>
          <p:nvPr/>
        </p:nvSpPr>
        <p:spPr>
          <a:xfrm>
            <a:off x="457200" y="1417320"/>
            <a:ext cx="11155680" cy="502920"/>
          </a:xfrm>
          <a:prstGeom prst="rect">
            <a:avLst/>
          </a:prstGeom>
          <a:solidFill>
            <a:srgbClr val="E8F1FB"/>
          </a:solidFill>
          <a:ln>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72184"/>
            <a:ext cx="10927080" cy="411480"/>
          </a:xfrm>
          <a:prstGeom prst="rect">
            <a:avLst/>
          </a:prstGeom>
          <a:noFill/>
        </p:spPr>
        <p:txBody>
          <a:bodyPr wrap="square">
            <a:spAutoFit/>
          </a:bodyPr>
          <a:lstStyle/>
          <a:p>
            <a:pPr algn="l"/>
            <a:r>
              <a:rPr sz="1300" b="0">
                <a:solidFill>
                  <a:srgbClr val="1A2E44"/>
                </a:solidFill>
              </a:rPr>
              <a:t>Customer emails billing@ with disputed charge</a:t>
            </a:r>
          </a:p>
        </p:txBody>
      </p:sp>
      <p:sp>
        <p:nvSpPr>
          <p:cNvPr id="5" name="TextBox 4"/>
          <p:cNvSpPr txBox="1"/>
          <p:nvPr/>
        </p:nvSpPr>
        <p:spPr>
          <a:xfrm>
            <a:off x="5852160" y="1920240"/>
            <a:ext cx="457200" cy="228600"/>
          </a:xfrm>
          <a:prstGeom prst="rect">
            <a:avLst/>
          </a:prstGeom>
          <a:noFill/>
        </p:spPr>
        <p:txBody>
          <a:bodyPr wrap="square">
            <a:spAutoFit/>
          </a:bodyPr>
          <a:lstStyle/>
          <a:p>
            <a:pPr algn="ctr"/>
            <a:r>
              <a:rPr sz="1400" b="0">
                <a:solidFill>
                  <a:srgbClr val="1F61AA"/>
                </a:solidFill>
              </a:rPr>
              <a:t>↓</a:t>
            </a:r>
          </a:p>
        </p:txBody>
      </p:sp>
      <p:sp>
        <p:nvSpPr>
          <p:cNvPr id="6" name="Rectangle 5"/>
          <p:cNvSpPr/>
          <p:nvPr/>
        </p:nvSpPr>
        <p:spPr>
          <a:xfrm>
            <a:off x="457200" y="2148840"/>
            <a:ext cx="11155680" cy="502920"/>
          </a:xfrm>
          <a:prstGeom prst="rect">
            <a:avLst/>
          </a:prstGeom>
          <a:solidFill>
            <a:srgbClr val="FFFFFF"/>
          </a:solidFill>
          <a:ln>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203704"/>
            <a:ext cx="10927080" cy="411480"/>
          </a:xfrm>
          <a:prstGeom prst="rect">
            <a:avLst/>
          </a:prstGeom>
          <a:noFill/>
        </p:spPr>
        <p:txBody>
          <a:bodyPr wrap="square">
            <a:spAutoFit/>
          </a:bodyPr>
          <a:lstStyle/>
          <a:p>
            <a:pPr algn="l"/>
            <a:r>
              <a:rPr sz="1300" b="0">
                <a:solidFill>
                  <a:srgbClr val="1A2E44"/>
                </a:solidFill>
              </a:rPr>
              <a:t>Agent opens CRM → manually retrieves Aurum invoice data (avg 9 days to resolution — Artefact 2)</a:t>
            </a:r>
          </a:p>
        </p:txBody>
      </p:sp>
      <p:sp>
        <p:nvSpPr>
          <p:cNvPr id="8" name="TextBox 7"/>
          <p:cNvSpPr txBox="1"/>
          <p:nvPr/>
        </p:nvSpPr>
        <p:spPr>
          <a:xfrm>
            <a:off x="5852160" y="2651760"/>
            <a:ext cx="457200" cy="228600"/>
          </a:xfrm>
          <a:prstGeom prst="rect">
            <a:avLst/>
          </a:prstGeom>
          <a:noFill/>
        </p:spPr>
        <p:txBody>
          <a:bodyPr wrap="square">
            <a:spAutoFit/>
          </a:bodyPr>
          <a:lstStyle/>
          <a:p>
            <a:pPr algn="ctr"/>
            <a:r>
              <a:rPr sz="1400" b="0">
                <a:solidFill>
                  <a:srgbClr val="1F61AA"/>
                </a:solidFill>
              </a:rPr>
              <a:t>↓</a:t>
            </a:r>
          </a:p>
        </p:txBody>
      </p:sp>
      <p:sp>
        <p:nvSpPr>
          <p:cNvPr id="9" name="Rectangle 8"/>
          <p:cNvSpPr/>
          <p:nvPr/>
        </p:nvSpPr>
        <p:spPr>
          <a:xfrm>
            <a:off x="457200" y="2880360"/>
            <a:ext cx="11155680" cy="502920"/>
          </a:xfrm>
          <a:prstGeom prst="rect">
            <a:avLst/>
          </a:prstGeom>
          <a:solidFill>
            <a:srgbClr val="E8F1FB"/>
          </a:solidFill>
          <a:ln>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935224"/>
            <a:ext cx="10927080" cy="411480"/>
          </a:xfrm>
          <a:prstGeom prst="rect">
            <a:avLst/>
          </a:prstGeom>
          <a:noFill/>
        </p:spPr>
        <p:txBody>
          <a:bodyPr wrap="square">
            <a:spAutoFit/>
          </a:bodyPr>
          <a:lstStyle/>
          <a:p>
            <a:pPr algn="l"/>
            <a:r>
              <a:rPr sz="1300" b="0">
                <a:solidFill>
                  <a:srgbClr val="1A2E44"/>
                </a:solidFill>
              </a:rPr>
              <a:t>Agent assesses whether the charge is valid — no formal policy to check against</a:t>
            </a:r>
          </a:p>
        </p:txBody>
      </p:sp>
      <p:sp>
        <p:nvSpPr>
          <p:cNvPr id="11" name="TextBox 10"/>
          <p:cNvSpPr txBox="1"/>
          <p:nvPr/>
        </p:nvSpPr>
        <p:spPr>
          <a:xfrm>
            <a:off x="5852160" y="3383280"/>
            <a:ext cx="457200" cy="228600"/>
          </a:xfrm>
          <a:prstGeom prst="rect">
            <a:avLst/>
          </a:prstGeom>
          <a:noFill/>
        </p:spPr>
        <p:txBody>
          <a:bodyPr wrap="square">
            <a:spAutoFit/>
          </a:bodyPr>
          <a:lstStyle/>
          <a:p>
            <a:pPr algn="ctr"/>
            <a:r>
              <a:rPr sz="1400" b="0">
                <a:solidFill>
                  <a:srgbClr val="1F61AA"/>
                </a:solidFill>
              </a:rPr>
              <a:t>↓</a:t>
            </a:r>
          </a:p>
        </p:txBody>
      </p:sp>
      <p:sp>
        <p:nvSpPr>
          <p:cNvPr id="12" name="Rectangle 11"/>
          <p:cNvSpPr/>
          <p:nvPr/>
        </p:nvSpPr>
        <p:spPr>
          <a:xfrm>
            <a:off x="457200" y="3611880"/>
            <a:ext cx="11155680" cy="502920"/>
          </a:xfrm>
          <a:prstGeom prst="rect">
            <a:avLst/>
          </a:prstGeom>
          <a:solidFill>
            <a:srgbClr val="FFFFFF"/>
          </a:solidFill>
          <a:ln>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666744"/>
            <a:ext cx="10927080" cy="411480"/>
          </a:xfrm>
          <a:prstGeom prst="rect">
            <a:avLst/>
          </a:prstGeom>
          <a:noFill/>
        </p:spPr>
        <p:txBody>
          <a:bodyPr wrap="square">
            <a:spAutoFit/>
          </a:bodyPr>
          <a:lstStyle/>
          <a:p>
            <a:pPr algn="l"/>
            <a:r>
              <a:rPr sz="1300" b="0">
                <a:solidFill>
                  <a:srgbClr val="1A2E44"/>
                </a:solidFill>
              </a:rPr>
              <a:t>Agent decides credit amount from experience (e.g. £170 on £340 dispute) — Sandra's heuristic, not an approved rule</a:t>
            </a:r>
          </a:p>
        </p:txBody>
      </p:sp>
      <p:sp>
        <p:nvSpPr>
          <p:cNvPr id="14" name="TextBox 13"/>
          <p:cNvSpPr txBox="1"/>
          <p:nvPr/>
        </p:nvSpPr>
        <p:spPr>
          <a:xfrm>
            <a:off x="5852160" y="4114800"/>
            <a:ext cx="457200" cy="228600"/>
          </a:xfrm>
          <a:prstGeom prst="rect">
            <a:avLst/>
          </a:prstGeom>
          <a:noFill/>
        </p:spPr>
        <p:txBody>
          <a:bodyPr wrap="square">
            <a:spAutoFit/>
          </a:bodyPr>
          <a:lstStyle/>
          <a:p>
            <a:pPr algn="ctr"/>
            <a:r>
              <a:rPr sz="1400" b="0">
                <a:solidFill>
                  <a:srgbClr val="1F61AA"/>
                </a:solidFill>
              </a:rPr>
              <a:t>↓</a:t>
            </a:r>
          </a:p>
        </p:txBody>
      </p:sp>
      <p:sp>
        <p:nvSpPr>
          <p:cNvPr id="15" name="Rectangle 14"/>
          <p:cNvSpPr/>
          <p:nvPr/>
        </p:nvSpPr>
        <p:spPr>
          <a:xfrm>
            <a:off x="457200" y="4343400"/>
            <a:ext cx="11155680" cy="502920"/>
          </a:xfrm>
          <a:prstGeom prst="rect">
            <a:avLst/>
          </a:prstGeom>
          <a:solidFill>
            <a:srgbClr val="E8F1FB"/>
          </a:solidFill>
          <a:ln>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398264"/>
            <a:ext cx="10927080" cy="411480"/>
          </a:xfrm>
          <a:prstGeom prst="rect">
            <a:avLst/>
          </a:prstGeom>
          <a:noFill/>
        </p:spPr>
        <p:txBody>
          <a:bodyPr wrap="square">
            <a:spAutoFit/>
          </a:bodyPr>
          <a:lstStyle/>
          <a:p>
            <a:pPr algn="l"/>
            <a:r>
              <a:rPr sz="1300" b="0">
                <a:solidFill>
                  <a:srgbClr val="1A2E44"/>
                </a:solidFill>
              </a:rPr>
              <a:t>Agent applies credit via manual override — no audit log entry recorded</a:t>
            </a:r>
          </a:p>
        </p:txBody>
      </p:sp>
      <p:sp>
        <p:nvSpPr>
          <p:cNvPr id="17" name="TextBox 16"/>
          <p:cNvSpPr txBox="1"/>
          <p:nvPr/>
        </p:nvSpPr>
        <p:spPr>
          <a:xfrm>
            <a:off x="5852160" y="4846320"/>
            <a:ext cx="457200" cy="228600"/>
          </a:xfrm>
          <a:prstGeom prst="rect">
            <a:avLst/>
          </a:prstGeom>
          <a:noFill/>
        </p:spPr>
        <p:txBody>
          <a:bodyPr wrap="square">
            <a:spAutoFit/>
          </a:bodyPr>
          <a:lstStyle/>
          <a:p>
            <a:pPr algn="ctr"/>
            <a:r>
              <a:rPr sz="1400" b="0">
                <a:solidFill>
                  <a:srgbClr val="1F61AA"/>
                </a:solidFill>
              </a:rPr>
              <a:t>↓</a:t>
            </a:r>
          </a:p>
        </p:txBody>
      </p:sp>
      <p:sp>
        <p:nvSpPr>
          <p:cNvPr id="18" name="Rectangle 17"/>
          <p:cNvSpPr/>
          <p:nvPr/>
        </p:nvSpPr>
        <p:spPr>
          <a:xfrm>
            <a:off x="457200" y="5074920"/>
            <a:ext cx="11155680" cy="502920"/>
          </a:xfrm>
          <a:prstGeom prst="rect">
            <a:avLst/>
          </a:prstGeom>
          <a:solidFill>
            <a:srgbClr val="FFFFFF"/>
          </a:solidFill>
          <a:ln>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5129784"/>
            <a:ext cx="10927080" cy="411480"/>
          </a:xfrm>
          <a:prstGeom prst="rect">
            <a:avLst/>
          </a:prstGeom>
          <a:noFill/>
        </p:spPr>
        <p:txBody>
          <a:bodyPr wrap="square">
            <a:spAutoFit/>
          </a:bodyPr>
          <a:lstStyle/>
          <a:p>
            <a:pPr algn="l"/>
            <a:r>
              <a:rPr sz="1300" b="0">
                <a:solidFill>
                  <a:srgbClr val="1A2E44"/>
                </a:solidFill>
              </a:rPr>
              <a:t>Customer receives credit on next statement — case closed informally</a:t>
            </a:r>
          </a:p>
        </p:txBody>
      </p:sp>
      <p:sp>
        <p:nvSpPr>
          <p:cNvPr id="20" name="TextBox 19"/>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Where Time Goes — The Cognitive Hotspots</a:t>
            </a:r>
          </a:p>
        </p:txBody>
      </p:sp>
      <p:sp>
        <p:nvSpPr>
          <p:cNvPr id="3" name="Rectangle 2"/>
          <p:cNvSpPr/>
          <p:nvPr/>
        </p:nvSpPr>
        <p:spPr>
          <a:xfrm>
            <a:off x="274320" y="1499616"/>
            <a:ext cx="109728" cy="457200"/>
          </a:xfrm>
          <a:prstGeom prst="rect">
            <a:avLst/>
          </a:prstGeom>
          <a:solidFill>
            <a:srgbClr val="1F61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0"/>
            <a:ext cx="11064240" cy="384048"/>
          </a:xfrm>
          <a:prstGeom prst="rect">
            <a:avLst/>
          </a:prstGeom>
          <a:noFill/>
        </p:spPr>
        <p:txBody>
          <a:bodyPr wrap="square">
            <a:spAutoFit/>
          </a:bodyPr>
          <a:lstStyle/>
          <a:p>
            <a:pPr algn="l"/>
            <a:r>
              <a:rPr sz="1500" b="1">
                <a:solidFill>
                  <a:srgbClr val="1A2E44"/>
                </a:solidFill>
              </a:rPr>
              <a:t>1. Assembling the evidence  (est. 10–12 min per case)</a:t>
            </a:r>
          </a:p>
        </p:txBody>
      </p:sp>
      <p:sp>
        <p:nvSpPr>
          <p:cNvPr id="5" name="TextBox 4"/>
          <p:cNvSpPr txBox="1"/>
          <p:nvPr/>
        </p:nvSpPr>
        <p:spPr>
          <a:xfrm>
            <a:off x="502920" y="1847088"/>
            <a:ext cx="11064240" cy="594360"/>
          </a:xfrm>
          <a:prstGeom prst="rect">
            <a:avLst/>
          </a:prstGeom>
          <a:noFill/>
        </p:spPr>
        <p:txBody>
          <a:bodyPr wrap="square">
            <a:spAutoFit/>
          </a:bodyPr>
          <a:lstStyle/>
          <a:p>
            <a:pPr algn="l"/>
            <a:r>
              <a:rPr sz="1200" b="0">
                <a:solidFill>
                  <a:srgbClr val="444444"/>
                </a:solidFill>
              </a:rPr>
              <a:t>Sandra manually retrieves invoice data, surcharge details, and delivery records from separate systems — Aurum batch exports and the CRM — that do not talk to each other in real time. There is no single view of a dispute. Each case starts from scratch.  (D1 — WS4 Zone 1, Z2)</a:t>
            </a:r>
          </a:p>
        </p:txBody>
      </p:sp>
      <p:sp>
        <p:nvSpPr>
          <p:cNvPr id="6" name="Rectangle 5"/>
          <p:cNvSpPr/>
          <p:nvPr/>
        </p:nvSpPr>
        <p:spPr>
          <a:xfrm>
            <a:off x="274320" y="2596896"/>
            <a:ext cx="109728" cy="4572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0"/>
            <a:ext cx="11064240" cy="384048"/>
          </a:xfrm>
          <a:prstGeom prst="rect">
            <a:avLst/>
          </a:prstGeom>
          <a:noFill/>
        </p:spPr>
        <p:txBody>
          <a:bodyPr wrap="square">
            <a:spAutoFit/>
          </a:bodyPr>
          <a:lstStyle/>
          <a:p>
            <a:pPr algn="l"/>
            <a:r>
              <a:rPr sz="1500" b="1">
                <a:solidFill>
                  <a:srgbClr val="1A2E44"/>
                </a:solidFill>
              </a:rPr>
              <a:t>2. Deciding the credit amount  (judgment call with no rule)</a:t>
            </a:r>
          </a:p>
        </p:txBody>
      </p:sp>
      <p:sp>
        <p:nvSpPr>
          <p:cNvPr id="8" name="TextBox 7"/>
          <p:cNvSpPr txBox="1"/>
          <p:nvPr/>
        </p:nvSpPr>
        <p:spPr>
          <a:xfrm>
            <a:off x="502920" y="2944368"/>
            <a:ext cx="11064240" cy="594360"/>
          </a:xfrm>
          <a:prstGeom prst="rect">
            <a:avLst/>
          </a:prstGeom>
          <a:noFill/>
        </p:spPr>
        <p:txBody>
          <a:bodyPr wrap="square">
            <a:spAutoFit/>
          </a:bodyPr>
          <a:lstStyle/>
          <a:p>
            <a:pPr algn="l"/>
            <a:r>
              <a:rPr sz="1200" b="0">
                <a:solidFill>
                  <a:srgbClr val="444444"/>
                </a:solidFill>
              </a:rPr>
              <a:t>No written policy exists for how much to credit. The observed practice — roughly 50% of the disputed amount — is Sandra's heuristic, not an approved rule. Different agents would reach different amounts for the same case.  (D1 — WS4 Zone 3, MT6; D2 — C-7 Human Only)</a:t>
            </a:r>
          </a:p>
        </p:txBody>
      </p:sp>
      <p:sp>
        <p:nvSpPr>
          <p:cNvPr id="9" name="Rectangle 8"/>
          <p:cNvSpPr/>
          <p:nvPr/>
        </p:nvSpPr>
        <p:spPr>
          <a:xfrm>
            <a:off x="274320" y="3694176"/>
            <a:ext cx="10972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657600"/>
            <a:ext cx="11064240" cy="384048"/>
          </a:xfrm>
          <a:prstGeom prst="rect">
            <a:avLst/>
          </a:prstGeom>
          <a:noFill/>
        </p:spPr>
        <p:txBody>
          <a:bodyPr wrap="square">
            <a:spAutoFit/>
          </a:bodyPr>
          <a:lstStyle/>
          <a:p>
            <a:pPr algn="l"/>
            <a:r>
              <a:rPr sz="1500" b="1">
                <a:solidFill>
                  <a:srgbClr val="1A2E44"/>
                </a:solidFill>
              </a:rPr>
              <a:t>3. Writing the credit record  (compliance step routinely skipped under pressure)</a:t>
            </a:r>
          </a:p>
        </p:txBody>
      </p:sp>
      <p:sp>
        <p:nvSpPr>
          <p:cNvPr id="11" name="TextBox 10"/>
          <p:cNvSpPr txBox="1"/>
          <p:nvPr/>
        </p:nvSpPr>
        <p:spPr>
          <a:xfrm>
            <a:off x="502920" y="4041648"/>
            <a:ext cx="11064240" cy="594360"/>
          </a:xfrm>
          <a:prstGeom prst="rect">
            <a:avLst/>
          </a:prstGeom>
          <a:noFill/>
        </p:spPr>
        <p:txBody>
          <a:bodyPr wrap="square">
            <a:spAutoFit/>
          </a:bodyPr>
          <a:lstStyle/>
          <a:p>
            <a:pPr algn="l"/>
            <a:r>
              <a:rPr sz="1200" b="0">
                <a:solidFill>
                  <a:srgbClr val="444444"/>
                </a:solidFill>
              </a:rPr>
              <a:t>The audit trail fields exist in the system — named approver, case reference, reason code — but the current process bypasses them. At least one confirmed miss in live records. At machine speed, this gap would become systematic.  (D1 — WS4 BP-4; Artefact 2 internal note)</a:t>
            </a:r>
          </a:p>
        </p:txBody>
      </p:sp>
      <p:sp>
        <p:nvSpPr>
          <p:cNvPr id="12" name="TextBox 11"/>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What Can Be Delegated — and What Cannot</a:t>
            </a:r>
          </a:p>
        </p:txBody>
      </p:sp>
      <p:graphicFrame>
        <p:nvGraphicFramePr>
          <p:cNvPr id="3" name="Table 2"/>
          <p:cNvGraphicFramePr>
            <a:graphicFrameLocks noGrp="1"/>
          </p:cNvGraphicFramePr>
          <p:nvPr/>
        </p:nvGraphicFramePr>
        <p:xfrm>
          <a:off x="274320" y="1417320"/>
          <a:ext cx="11612880" cy="4389120"/>
        </p:xfrm>
        <a:graphic>
          <a:graphicData uri="http://schemas.openxmlformats.org/drawingml/2006/table">
            <a:tbl>
              <a:tblPr firstRow="1" bandRow="1">
                <a:tableStyleId>{5C22544A-7EE6-4342-B048-85BDC9FD1C3A}</a:tableStyleId>
              </a:tblPr>
              <a:tblGrid>
                <a:gridCol w="5029200"/>
                <a:gridCol w="2011680"/>
                <a:gridCol w="4572000"/>
              </a:tblGrid>
              <a:tr h="548640">
                <a:tc>
                  <a:txBody>
                    <a:bodyPr/>
                    <a:lstStyle/>
                    <a:p>
                      <a:r>
                        <a:rPr b="1" sz="1200">
                          <a:solidFill>
                            <a:srgbClr val="FFFFFF"/>
                          </a:solidFill>
                        </a:rPr>
                        <a:t>Task</a:t>
                      </a:r>
                    </a:p>
                  </a:txBody>
                  <a:tcPr>
                    <a:solidFill>
                      <a:srgbClr val="1A2E44"/>
                    </a:solidFill>
                  </a:tcPr>
                </a:tc>
                <a:tc>
                  <a:txBody>
                    <a:bodyPr/>
                    <a:lstStyle/>
                    <a:p>
                      <a:r>
                        <a:rPr b="1" sz="1200">
                          <a:solidFill>
                            <a:srgbClr val="FFFFFF"/>
                          </a:solidFill>
                        </a:rPr>
                        <a:t>Suitable for agent?</a:t>
                      </a:r>
                    </a:p>
                  </a:txBody>
                  <a:tcPr>
                    <a:solidFill>
                      <a:srgbClr val="1A2E44"/>
                    </a:solidFill>
                  </a:tcPr>
                </a:tc>
                <a:tc>
                  <a:txBody>
                    <a:bodyPr/>
                    <a:lstStyle/>
                    <a:p>
                      <a:r>
                        <a:rPr b="1" sz="1200">
                          <a:solidFill>
                            <a:srgbClr val="FFFFFF"/>
                          </a:solidFill>
                        </a:rPr>
                        <a:t>Why</a:t>
                      </a:r>
                    </a:p>
                  </a:txBody>
                  <a:tcPr>
                    <a:solidFill>
                      <a:srgbClr val="1A2E44"/>
                    </a:solidFill>
                  </a:tcPr>
                </a:tc>
              </a:tr>
              <a:tr h="548640">
                <a:tc>
                  <a:txBody>
                    <a:bodyPr/>
                    <a:lstStyle/>
                    <a:p>
                      <a:r>
                        <a:rPr sz="1100" b="0">
                          <a:solidFill>
                            <a:srgbClr val="444444"/>
                          </a:solidFill>
                        </a:rPr>
                        <a:t>Retrieve invoice, surcharge, and dispute records</a:t>
                      </a:r>
                    </a:p>
                  </a:txBody>
                  <a:tcPr/>
                </a:tc>
                <a:tc>
                  <a:txBody>
                    <a:bodyPr/>
                    <a:lstStyle/>
                    <a:p>
                      <a:r>
                        <a:rPr sz="1100" b="0">
                          <a:solidFill>
                            <a:srgbClr val="444444"/>
                          </a:solidFill>
                        </a:rPr>
                        <a:t>Agent ✓</a:t>
                      </a:r>
                    </a:p>
                  </a:txBody>
                  <a:tcPr/>
                </a:tc>
                <a:tc>
                  <a:txBody>
                    <a:bodyPr/>
                    <a:lstStyle/>
                    <a:p>
                      <a:r>
                        <a:rPr sz="1100" b="0">
                          <a:solidFill>
                            <a:srgbClr val="444444"/>
                          </a:solidFill>
                        </a:rPr>
                        <a:t>Structured lookup — no judgment required</a:t>
                      </a:r>
                    </a:p>
                  </a:txBody>
                  <a:tcPr/>
                </a:tc>
              </a:tr>
              <a:tr h="548640">
                <a:tc>
                  <a:txBody>
                    <a:bodyPr/>
                    <a:lstStyle/>
                    <a:p>
                      <a:r>
                        <a:rPr sz="1100" b="0">
                          <a:solidFill>
                            <a:srgbClr val="444444"/>
                          </a:solidFill>
                        </a:rPr>
                        <a:t>Send initial acknowledgement to customer</a:t>
                      </a:r>
                    </a:p>
                  </a:txBody>
                  <a:tcPr/>
                </a:tc>
                <a:tc>
                  <a:txBody>
                    <a:bodyPr/>
                    <a:lstStyle/>
                    <a:p>
                      <a:r>
                        <a:rPr sz="1100" b="0">
                          <a:solidFill>
                            <a:srgbClr val="444444"/>
                          </a:solidFill>
                        </a:rPr>
                        <a:t>Agent ✓</a:t>
                      </a:r>
                    </a:p>
                  </a:txBody>
                  <a:tcPr/>
                </a:tc>
                <a:tc>
                  <a:txBody>
                    <a:bodyPr/>
                    <a:lstStyle/>
                    <a:p>
                      <a:r>
                        <a:rPr sz="1100" b="0">
                          <a:solidFill>
                            <a:srgbClr val="444444"/>
                          </a:solidFill>
                        </a:rPr>
                        <a:t>Same message every time; no variation</a:t>
                      </a:r>
                    </a:p>
                  </a:txBody>
                  <a:tcPr/>
                </a:tc>
              </a:tr>
              <a:tr h="548640">
                <a:tc>
                  <a:txBody>
                    <a:bodyPr/>
                    <a:lstStyle/>
                    <a:p>
                      <a:r>
                        <a:rPr sz="1100" b="0">
                          <a:solidFill>
                            <a:srgbClr val="444444"/>
                          </a:solidFill>
                        </a:rPr>
                        <a:t>Classify dispute type (fuel surcharge / redelivery / dim. wt.)</a:t>
                      </a:r>
                    </a:p>
                  </a:txBody>
                  <a:tcPr/>
                </a:tc>
                <a:tc>
                  <a:txBody>
                    <a:bodyPr/>
                    <a:lstStyle/>
                    <a:p>
                      <a:r>
                        <a:rPr sz="1100" b="0">
                          <a:solidFill>
                            <a:srgbClr val="444444"/>
                          </a:solidFill>
                        </a:rPr>
                        <a:t>Agent ✓</a:t>
                      </a:r>
                    </a:p>
                  </a:txBody>
                  <a:tcPr/>
                </a:tc>
                <a:tc>
                  <a:txBody>
                    <a:bodyPr/>
                    <a:lstStyle/>
                    <a:p>
                      <a:r>
                        <a:rPr sz="1100" b="0">
                          <a:solidFill>
                            <a:srgbClr val="444444"/>
                          </a:solidFill>
                        </a:rPr>
                        <a:t>Rule-based once dispute arrives in CRM</a:t>
                      </a:r>
                    </a:p>
                  </a:txBody>
                  <a:tcPr/>
                </a:tc>
              </a:tr>
              <a:tr h="548640">
                <a:tc>
                  <a:txBody>
                    <a:bodyPr/>
                    <a:lstStyle/>
                    <a:p>
                      <a:r>
                        <a:rPr sz="1100" b="0">
                          <a:solidFill>
                            <a:srgbClr val="444444"/>
                          </a:solidFill>
                        </a:rPr>
                        <a:t>Verify whether a charge was calculated correctly</a:t>
                      </a:r>
                    </a:p>
                  </a:txBody>
                  <a:tcPr/>
                </a:tc>
                <a:tc>
                  <a:txBody>
                    <a:bodyPr/>
                    <a:lstStyle/>
                    <a:p>
                      <a:r>
                        <a:rPr sz="1100" b="0">
                          <a:solidFill>
                            <a:srgbClr val="444444"/>
                          </a:solidFill>
                        </a:rPr>
                        <a:t>Agent ✓</a:t>
                      </a:r>
                    </a:p>
                  </a:txBody>
                  <a:tcPr/>
                </a:tc>
                <a:tc>
                  <a:txBody>
                    <a:bodyPr/>
                    <a:lstStyle/>
                    <a:p>
                      <a:r>
                        <a:rPr sz="1100" b="0">
                          <a:solidFill>
                            <a:srgbClr val="444444"/>
                          </a:solidFill>
                        </a:rPr>
                        <a:t>Arithmetic check against system data</a:t>
                      </a:r>
                    </a:p>
                  </a:txBody>
                  <a:tcPr/>
                </a:tc>
              </a:tr>
              <a:tr h="548640">
                <a:tc>
                  <a:txBody>
                    <a:bodyPr/>
                    <a:lstStyle/>
                    <a:p>
                      <a:r>
                        <a:rPr sz="1100" b="0">
                          <a:solidFill>
                            <a:srgbClr val="444444"/>
                          </a:solidFill>
                        </a:rPr>
                        <a:t>Write the completed credit record once approved</a:t>
                      </a:r>
                    </a:p>
                  </a:txBody>
                  <a:tcPr/>
                </a:tc>
                <a:tc>
                  <a:txBody>
                    <a:bodyPr/>
                    <a:lstStyle/>
                    <a:p>
                      <a:r>
                        <a:rPr sz="1100" b="0">
                          <a:solidFill>
                            <a:srgbClr val="444444"/>
                          </a:solidFill>
                        </a:rPr>
                        <a:t>Agent ✓</a:t>
                      </a:r>
                    </a:p>
                  </a:txBody>
                  <a:tcPr/>
                </a:tc>
                <a:tc>
                  <a:txBody>
                    <a:bodyPr/>
                    <a:lstStyle/>
                    <a:p>
                      <a:r>
                        <a:rPr sz="1100" b="0">
                          <a:solidFill>
                            <a:srgbClr val="444444"/>
                          </a:solidFill>
                        </a:rPr>
                        <a:t>Structured field population — deterministic</a:t>
                      </a:r>
                    </a:p>
                  </a:txBody>
                  <a:tcPr/>
                </a:tc>
              </a:tr>
              <a:tr h="548640">
                <a:tc>
                  <a:txBody>
                    <a:bodyPr/>
                    <a:lstStyle/>
                    <a:p>
                      <a:r>
                        <a:rPr sz="1100" b="1">
                          <a:solidFill>
                            <a:srgbClr val="CC0000"/>
                          </a:solidFill>
                        </a:rPr>
                        <a:t>Decide the credit amount</a:t>
                      </a:r>
                    </a:p>
                  </a:txBody>
                  <a:tcPr>
                    <a:solidFill>
                      <a:srgbClr val="FFF0F0"/>
                    </a:solidFill>
                  </a:tcPr>
                </a:tc>
                <a:tc>
                  <a:txBody>
                    <a:bodyPr/>
                    <a:lstStyle/>
                    <a:p>
                      <a:r>
                        <a:rPr sz="1100" b="1">
                          <a:solidFill>
                            <a:srgbClr val="CC0000"/>
                          </a:solidFill>
                        </a:rPr>
                        <a:t>Human only ✗</a:t>
                      </a:r>
                    </a:p>
                  </a:txBody>
                  <a:tcPr>
                    <a:solidFill>
                      <a:srgbClr val="FFF0F0"/>
                    </a:solidFill>
                  </a:tcPr>
                </a:tc>
                <a:tc>
                  <a:txBody>
                    <a:bodyPr/>
                    <a:lstStyle/>
                    <a:p>
                      <a:r>
                        <a:rPr sz="1100" b="1">
                          <a:solidFill>
                            <a:srgbClr val="CC0000"/>
                          </a:solidFill>
                        </a:rPr>
                        <a:t>No formal policy exists; judgment required</a:t>
                      </a:r>
                    </a:p>
                  </a:txBody>
                  <a:tcPr>
                    <a:solidFill>
                      <a:srgbClr val="FFF0F0"/>
                    </a:solidFill>
                  </a:tcPr>
                </a:tc>
              </a:tr>
              <a:tr h="548640">
                <a:tc>
                  <a:txBody>
                    <a:bodyPr/>
                    <a:lstStyle/>
                    <a:p>
                      <a:r>
                        <a:rPr sz="1100" b="1">
                          <a:solidFill>
                            <a:srgbClr val="CC0000"/>
                          </a:solidFill>
                        </a:rPr>
                        <a:t>Confirm &amp; sign every credit record before it is written</a:t>
                      </a:r>
                    </a:p>
                  </a:txBody>
                  <a:tcPr>
                    <a:solidFill>
                      <a:srgbClr val="FFF0F0"/>
                    </a:solidFill>
                  </a:tcPr>
                </a:tc>
                <a:tc>
                  <a:txBody>
                    <a:bodyPr/>
                    <a:lstStyle/>
                    <a:p>
                      <a:r>
                        <a:rPr sz="1100" b="1">
                          <a:solidFill>
                            <a:srgbClr val="CC0000"/>
                          </a:solidFill>
                        </a:rPr>
                        <a:t>Human — system gate ✗</a:t>
                      </a:r>
                    </a:p>
                  </a:txBody>
                  <a:tcPr>
                    <a:solidFill>
                      <a:srgbClr val="FFF0F0"/>
                    </a:solidFill>
                  </a:tcPr>
                </a:tc>
                <a:tc>
                  <a:txBody>
                    <a:bodyPr/>
                    <a:lstStyle/>
                    <a:p>
                      <a:r>
                        <a:rPr sz="1100" b="1">
                          <a:solidFill>
                            <a:srgbClr val="CC0000"/>
                          </a:solidFill>
                        </a:rPr>
                        <a:t>Named approver required; enforced by design, not policy</a:t>
                      </a:r>
                    </a:p>
                  </a:txBody>
                  <a:tcPr>
                    <a:solidFill>
                      <a:srgbClr val="FFF0F0"/>
                    </a:solidFill>
                  </a:tcPr>
                </a:tc>
              </a:tr>
            </a:tbl>
          </a:graphicData>
        </a:graphic>
      </p:graphicFrame>
      <p:sp>
        <p:nvSpPr>
          <p:cNvPr id="4" name="TextBox 3"/>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The Opportunity — Where Volume Meets Complexity</a:t>
            </a:r>
          </a:p>
        </p:txBody>
      </p:sp>
      <p:sp>
        <p:nvSpPr>
          <p:cNvPr id="3" name="Rectangle 2"/>
          <p:cNvSpPr/>
          <p:nvPr/>
        </p:nvSpPr>
        <p:spPr>
          <a:xfrm>
            <a:off x="457200" y="3685032"/>
            <a:ext cx="6858000"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867912" y="1417320"/>
            <a:ext cx="36576" cy="4572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035040"/>
            <a:ext cx="6858000" cy="274320"/>
          </a:xfrm>
          <a:prstGeom prst="rect">
            <a:avLst/>
          </a:prstGeom>
          <a:noFill/>
        </p:spPr>
        <p:txBody>
          <a:bodyPr wrap="square">
            <a:spAutoFit/>
          </a:bodyPr>
          <a:lstStyle/>
          <a:p>
            <a:pPr algn="ctr"/>
            <a:r>
              <a:rPr sz="1000" b="0">
                <a:solidFill>
                  <a:srgbClr val="444444"/>
                </a:solidFill>
              </a:rPr>
              <a:t>← Low volume          High volume →</a:t>
            </a:r>
          </a:p>
        </p:txBody>
      </p:sp>
      <p:sp>
        <p:nvSpPr>
          <p:cNvPr id="6" name="TextBox 5"/>
          <p:cNvSpPr txBox="1"/>
          <p:nvPr/>
        </p:nvSpPr>
        <p:spPr>
          <a:xfrm>
            <a:off x="45720" y="1417320"/>
            <a:ext cx="365760" cy="822960"/>
          </a:xfrm>
          <a:prstGeom prst="rect">
            <a:avLst/>
          </a:prstGeom>
          <a:noFill/>
        </p:spPr>
        <p:txBody>
          <a:bodyPr wrap="square">
            <a:spAutoFit/>
          </a:bodyPr>
          <a:lstStyle/>
          <a:p>
            <a:pPr algn="ctr"/>
            <a:r>
              <a:rPr sz="900" b="0">
                <a:solidFill>
                  <a:srgbClr val="444444"/>
                </a:solidFill>
              </a:rPr>
              <a:t>High
complexity</a:t>
            </a:r>
          </a:p>
        </p:txBody>
      </p:sp>
      <p:sp>
        <p:nvSpPr>
          <p:cNvPr id="7" name="TextBox 6"/>
          <p:cNvSpPr txBox="1"/>
          <p:nvPr/>
        </p:nvSpPr>
        <p:spPr>
          <a:xfrm>
            <a:off x="45720" y="5166360"/>
            <a:ext cx="365760" cy="822960"/>
          </a:xfrm>
          <a:prstGeom prst="rect">
            <a:avLst/>
          </a:prstGeom>
          <a:noFill/>
        </p:spPr>
        <p:txBody>
          <a:bodyPr wrap="square">
            <a:spAutoFit/>
          </a:bodyPr>
          <a:lstStyle/>
          <a:p>
            <a:pPr algn="ctr"/>
            <a:r>
              <a:rPr sz="900" b="0">
                <a:solidFill>
                  <a:srgbClr val="444444"/>
                </a:solidFill>
              </a:rPr>
              <a:t>Low
complexity</a:t>
            </a:r>
          </a:p>
        </p:txBody>
      </p:sp>
      <p:sp>
        <p:nvSpPr>
          <p:cNvPr id="8" name="Oval 7"/>
          <p:cNvSpPr/>
          <p:nvPr/>
        </p:nvSpPr>
        <p:spPr>
          <a:xfrm>
            <a:off x="2354580" y="1737360"/>
            <a:ext cx="1005840" cy="1005840"/>
          </a:xfrm>
          <a:prstGeom prst="ellipse">
            <a:avLst/>
          </a:prstGeom>
          <a:solidFill>
            <a:srgbClr val="1F61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63140" y="2779776"/>
            <a:ext cx="1188720" cy="640080"/>
          </a:xfrm>
          <a:prstGeom prst="rect">
            <a:avLst/>
          </a:prstGeom>
          <a:noFill/>
        </p:spPr>
        <p:txBody>
          <a:bodyPr wrap="square">
            <a:spAutoFit/>
          </a:bodyPr>
          <a:lstStyle/>
          <a:p>
            <a:pPr algn="ctr"/>
            <a:r>
              <a:rPr sz="1000" b="1">
                <a:solidFill>
                  <a:srgbClr val="1A2E44"/>
                </a:solidFill>
              </a:rPr>
              <a:t>WS4
Billing Disputes
★ PRIMARY TARGET</a:t>
            </a:r>
          </a:p>
        </p:txBody>
      </p:sp>
      <p:sp>
        <p:nvSpPr>
          <p:cNvPr id="10" name="Oval 9"/>
          <p:cNvSpPr/>
          <p:nvPr/>
        </p:nvSpPr>
        <p:spPr>
          <a:xfrm>
            <a:off x="1965960" y="2377440"/>
            <a:ext cx="822960" cy="822960"/>
          </a:xfrm>
          <a:prstGeom prst="ellipse">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20" y="3236976"/>
            <a:ext cx="1005840" cy="640080"/>
          </a:xfrm>
          <a:prstGeom prst="rect">
            <a:avLst/>
          </a:prstGeom>
          <a:noFill/>
        </p:spPr>
        <p:txBody>
          <a:bodyPr wrap="square">
            <a:spAutoFit/>
          </a:bodyPr>
          <a:lstStyle/>
          <a:p>
            <a:pPr algn="ctr"/>
            <a:r>
              <a:rPr sz="900" b="0">
                <a:solidFill>
                  <a:srgbClr val="444444"/>
                </a:solidFill>
              </a:rPr>
              <a:t>WS1
Delivery Exceptions</a:t>
            </a:r>
          </a:p>
        </p:txBody>
      </p:sp>
      <p:sp>
        <p:nvSpPr>
          <p:cNvPr id="12" name="Oval 11"/>
          <p:cNvSpPr/>
          <p:nvPr/>
        </p:nvSpPr>
        <p:spPr>
          <a:xfrm>
            <a:off x="1074420" y="2606040"/>
            <a:ext cx="822960" cy="822960"/>
          </a:xfrm>
          <a:prstGeom prst="ellipse">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980" y="3465576"/>
            <a:ext cx="1005840" cy="640080"/>
          </a:xfrm>
          <a:prstGeom prst="rect">
            <a:avLst/>
          </a:prstGeom>
          <a:noFill/>
        </p:spPr>
        <p:txBody>
          <a:bodyPr wrap="square">
            <a:spAutoFit/>
          </a:bodyPr>
          <a:lstStyle/>
          <a:p>
            <a:pPr algn="ctr"/>
            <a:r>
              <a:rPr sz="900" b="0">
                <a:solidFill>
                  <a:srgbClr val="444444"/>
                </a:solidFill>
              </a:rPr>
              <a:t>WS3
Dispatch Adjustments*</a:t>
            </a:r>
          </a:p>
        </p:txBody>
      </p:sp>
      <p:sp>
        <p:nvSpPr>
          <p:cNvPr id="14" name="Oval 13"/>
          <p:cNvSpPr/>
          <p:nvPr/>
        </p:nvSpPr>
        <p:spPr>
          <a:xfrm>
            <a:off x="4503420" y="4434840"/>
            <a:ext cx="822960" cy="822960"/>
          </a:xfrm>
          <a:prstGeom prst="ellipse">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1980" y="5294376"/>
            <a:ext cx="1005840" cy="640080"/>
          </a:xfrm>
          <a:prstGeom prst="rect">
            <a:avLst/>
          </a:prstGeom>
          <a:noFill/>
        </p:spPr>
        <p:txBody>
          <a:bodyPr wrap="square">
            <a:spAutoFit/>
          </a:bodyPr>
          <a:lstStyle/>
          <a:p>
            <a:pPr algn="ctr"/>
            <a:r>
              <a:rPr sz="900" b="0">
                <a:solidFill>
                  <a:srgbClr val="444444"/>
                </a:solidFill>
              </a:rPr>
              <a:t>WS2
ETA Inquiries</a:t>
            </a:r>
          </a:p>
        </p:txBody>
      </p:sp>
      <p:sp>
        <p:nvSpPr>
          <p:cNvPr id="16" name="Rectangle 15"/>
          <p:cNvSpPr/>
          <p:nvPr/>
        </p:nvSpPr>
        <p:spPr>
          <a:xfrm>
            <a:off x="7589520" y="1417320"/>
            <a:ext cx="4297680" cy="4572000"/>
          </a:xfrm>
          <a:prstGeom prst="rect">
            <a:avLst/>
          </a:prstGeom>
          <a:solidFill>
            <a:srgbClr val="E8F1FB"/>
          </a:solidFill>
          <a:ln>
            <a:solidFill>
              <a:srgbClr val="1F61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1600200"/>
            <a:ext cx="3931920" cy="365760"/>
          </a:xfrm>
          <a:prstGeom prst="rect">
            <a:avLst/>
          </a:prstGeom>
          <a:noFill/>
        </p:spPr>
        <p:txBody>
          <a:bodyPr wrap="square">
            <a:spAutoFit/>
          </a:bodyPr>
          <a:lstStyle/>
          <a:p>
            <a:pPr algn="l"/>
            <a:r>
              <a:rPr sz="1400" b="1">
                <a:solidFill>
                  <a:srgbClr val="1A2E44"/>
                </a:solidFill>
              </a:rPr>
              <a:t>WS4 Billing Disputes</a:t>
            </a:r>
          </a:p>
        </p:txBody>
      </p:sp>
      <p:sp>
        <p:nvSpPr>
          <p:cNvPr id="18" name="TextBox 17"/>
          <p:cNvSpPr txBox="1"/>
          <p:nvPr/>
        </p:nvSpPr>
        <p:spPr>
          <a:xfrm>
            <a:off x="7772400" y="2057400"/>
            <a:ext cx="3931920" cy="256032"/>
          </a:xfrm>
          <a:prstGeom prst="rect">
            <a:avLst/>
          </a:prstGeom>
          <a:noFill/>
        </p:spPr>
        <p:txBody>
          <a:bodyPr wrap="square">
            <a:spAutoFit/>
          </a:bodyPr>
          <a:lstStyle/>
          <a:p>
            <a:pPr algn="l"/>
            <a:r>
              <a:rPr sz="1100" b="1">
                <a:solidFill>
                  <a:srgbClr val="1A2E44"/>
                </a:solidFill>
              </a:rPr>
              <a:t>Agentic Value Score</a:t>
            </a:r>
          </a:p>
        </p:txBody>
      </p:sp>
      <p:sp>
        <p:nvSpPr>
          <p:cNvPr id="19" name="TextBox 18"/>
          <p:cNvSpPr txBox="1"/>
          <p:nvPr/>
        </p:nvSpPr>
        <p:spPr>
          <a:xfrm>
            <a:off x="7772400" y="2331720"/>
            <a:ext cx="3931920" cy="256032"/>
          </a:xfrm>
          <a:prstGeom prst="rect">
            <a:avLst/>
          </a:prstGeom>
          <a:noFill/>
        </p:spPr>
        <p:txBody>
          <a:bodyPr wrap="square">
            <a:spAutoFit/>
          </a:bodyPr>
          <a:lstStyle/>
          <a:p>
            <a:pPr algn="l"/>
            <a:r>
              <a:rPr sz="1200" b="0">
                <a:solidFill>
                  <a:srgbClr val="1F61AA"/>
                </a:solidFill>
              </a:rPr>
              <a:t>20 / 25  — strongest in portfolio</a:t>
            </a:r>
          </a:p>
        </p:txBody>
      </p:sp>
      <p:sp>
        <p:nvSpPr>
          <p:cNvPr id="20" name="TextBox 19"/>
          <p:cNvSpPr txBox="1"/>
          <p:nvPr/>
        </p:nvSpPr>
        <p:spPr>
          <a:xfrm>
            <a:off x="7772400" y="2715768"/>
            <a:ext cx="3931920" cy="256032"/>
          </a:xfrm>
          <a:prstGeom prst="rect">
            <a:avLst/>
          </a:prstGeom>
          <a:noFill/>
        </p:spPr>
        <p:txBody>
          <a:bodyPr wrap="square">
            <a:spAutoFit/>
          </a:bodyPr>
          <a:lstStyle/>
          <a:p>
            <a:pPr algn="l"/>
            <a:r>
              <a:rPr sz="1100" b="1">
                <a:solidFill>
                  <a:srgbClr val="1A2E44"/>
                </a:solidFill>
              </a:rPr>
              <a:t>Annual baseline cost</a:t>
            </a:r>
          </a:p>
        </p:txBody>
      </p:sp>
      <p:sp>
        <p:nvSpPr>
          <p:cNvPr id="21" name="TextBox 20"/>
          <p:cNvSpPr txBox="1"/>
          <p:nvPr/>
        </p:nvSpPr>
        <p:spPr>
          <a:xfrm>
            <a:off x="7772400" y="2990088"/>
            <a:ext cx="3931920" cy="256032"/>
          </a:xfrm>
          <a:prstGeom prst="rect">
            <a:avLst/>
          </a:prstGeom>
          <a:noFill/>
        </p:spPr>
        <p:txBody>
          <a:bodyPr wrap="square">
            <a:spAutoFit/>
          </a:bodyPr>
          <a:lstStyle/>
          <a:p>
            <a:pPr algn="l"/>
            <a:r>
              <a:rPr sz="1200" b="0">
                <a:solidFill>
                  <a:srgbClr val="1F61AA"/>
                </a:solidFill>
              </a:rPr>
              <a:t>~£245k / year at current handle time</a:t>
            </a:r>
          </a:p>
        </p:txBody>
      </p:sp>
      <p:sp>
        <p:nvSpPr>
          <p:cNvPr id="22" name="TextBox 21"/>
          <p:cNvSpPr txBox="1"/>
          <p:nvPr/>
        </p:nvSpPr>
        <p:spPr>
          <a:xfrm>
            <a:off x="7772400" y="3374136"/>
            <a:ext cx="3931920" cy="256032"/>
          </a:xfrm>
          <a:prstGeom prst="rect">
            <a:avLst/>
          </a:prstGeom>
          <a:noFill/>
        </p:spPr>
        <p:txBody>
          <a:bodyPr wrap="square">
            <a:spAutoFit/>
          </a:bodyPr>
          <a:lstStyle/>
          <a:p>
            <a:pPr algn="l"/>
            <a:r>
              <a:rPr sz="1100" b="1">
                <a:solidFill>
                  <a:srgbClr val="1A2E44"/>
                </a:solidFill>
              </a:rPr>
              <a:t>Projected agent cost</a:t>
            </a:r>
          </a:p>
        </p:txBody>
      </p:sp>
      <p:sp>
        <p:nvSpPr>
          <p:cNvPr id="23" name="TextBox 22"/>
          <p:cNvSpPr txBox="1"/>
          <p:nvPr/>
        </p:nvSpPr>
        <p:spPr>
          <a:xfrm>
            <a:off x="7772400" y="3648456"/>
            <a:ext cx="3931920" cy="256032"/>
          </a:xfrm>
          <a:prstGeom prst="rect">
            <a:avLst/>
          </a:prstGeom>
          <a:noFill/>
        </p:spPr>
        <p:txBody>
          <a:bodyPr wrap="square">
            <a:spAutoFit/>
          </a:bodyPr>
          <a:lstStyle/>
          <a:p>
            <a:pPr algn="l"/>
            <a:r>
              <a:rPr sz="1200" b="0">
                <a:solidFill>
                  <a:srgbClr val="1F61AA"/>
                </a:solidFill>
              </a:rPr>
              <a:t>~£70k / year (incl. human review time)</a:t>
            </a:r>
          </a:p>
        </p:txBody>
      </p:sp>
      <p:sp>
        <p:nvSpPr>
          <p:cNvPr id="24" name="TextBox 23"/>
          <p:cNvSpPr txBox="1"/>
          <p:nvPr/>
        </p:nvSpPr>
        <p:spPr>
          <a:xfrm>
            <a:off x="7772400" y="4032504"/>
            <a:ext cx="3931920" cy="256032"/>
          </a:xfrm>
          <a:prstGeom prst="rect">
            <a:avLst/>
          </a:prstGeom>
          <a:noFill/>
        </p:spPr>
        <p:txBody>
          <a:bodyPr wrap="square">
            <a:spAutoFit/>
          </a:bodyPr>
          <a:lstStyle/>
          <a:p>
            <a:pPr algn="l"/>
            <a:r>
              <a:rPr sz="1100" b="1">
                <a:solidFill>
                  <a:srgbClr val="1A2E44"/>
                </a:solidFill>
              </a:rPr>
              <a:t>Directional saving</a:t>
            </a:r>
          </a:p>
        </p:txBody>
      </p:sp>
      <p:sp>
        <p:nvSpPr>
          <p:cNvPr id="25" name="TextBox 24"/>
          <p:cNvSpPr txBox="1"/>
          <p:nvPr/>
        </p:nvSpPr>
        <p:spPr>
          <a:xfrm>
            <a:off x="7772400" y="4306824"/>
            <a:ext cx="3931920" cy="256032"/>
          </a:xfrm>
          <a:prstGeom prst="rect">
            <a:avLst/>
          </a:prstGeom>
          <a:noFill/>
        </p:spPr>
        <p:txBody>
          <a:bodyPr wrap="square">
            <a:spAutoFit/>
          </a:bodyPr>
          <a:lstStyle/>
          <a:p>
            <a:pPr algn="l"/>
            <a:r>
              <a:rPr sz="1200" b="0">
                <a:solidFill>
                  <a:srgbClr val="1F61AA"/>
                </a:solidFill>
              </a:rPr>
              <a:t>~£175k / year</a:t>
            </a:r>
          </a:p>
        </p:txBody>
      </p:sp>
      <p:sp>
        <p:nvSpPr>
          <p:cNvPr id="26" name="TextBox 25"/>
          <p:cNvSpPr txBox="1"/>
          <p:nvPr/>
        </p:nvSpPr>
        <p:spPr>
          <a:xfrm>
            <a:off x="7772400" y="4690872"/>
            <a:ext cx="3931920" cy="256032"/>
          </a:xfrm>
          <a:prstGeom prst="rect">
            <a:avLst/>
          </a:prstGeom>
          <a:noFill/>
        </p:spPr>
        <p:txBody>
          <a:bodyPr wrap="square">
            <a:spAutoFit/>
          </a:bodyPr>
          <a:lstStyle/>
          <a:p>
            <a:pPr algn="l"/>
            <a:r>
              <a:rPr sz="1100" b="1">
                <a:solidFill>
                  <a:srgbClr val="1A2E44"/>
                </a:solidFill>
              </a:rPr>
              <a:t>Build cost estimate</a:t>
            </a:r>
          </a:p>
        </p:txBody>
      </p:sp>
      <p:sp>
        <p:nvSpPr>
          <p:cNvPr id="27" name="TextBox 26"/>
          <p:cNvSpPr txBox="1"/>
          <p:nvPr/>
        </p:nvSpPr>
        <p:spPr>
          <a:xfrm>
            <a:off x="7772400" y="4965192"/>
            <a:ext cx="3931920" cy="256032"/>
          </a:xfrm>
          <a:prstGeom prst="rect">
            <a:avLst/>
          </a:prstGeom>
          <a:noFill/>
        </p:spPr>
        <p:txBody>
          <a:bodyPr wrap="square">
            <a:spAutoFit/>
          </a:bodyPr>
          <a:lstStyle/>
          <a:p>
            <a:pPr algn="l"/>
            <a:r>
              <a:rPr sz="1200" b="0">
                <a:solidFill>
                  <a:srgbClr val="1F61AA"/>
                </a:solidFill>
              </a:rPr>
              <a:t>~£100k</a:t>
            </a:r>
          </a:p>
        </p:txBody>
      </p:sp>
      <p:sp>
        <p:nvSpPr>
          <p:cNvPr id="28" name="TextBox 27"/>
          <p:cNvSpPr txBox="1"/>
          <p:nvPr/>
        </p:nvSpPr>
        <p:spPr>
          <a:xfrm>
            <a:off x="7772400" y="5349240"/>
            <a:ext cx="3931920" cy="256032"/>
          </a:xfrm>
          <a:prstGeom prst="rect">
            <a:avLst/>
          </a:prstGeom>
          <a:noFill/>
        </p:spPr>
        <p:txBody>
          <a:bodyPr wrap="square">
            <a:spAutoFit/>
          </a:bodyPr>
          <a:lstStyle/>
          <a:p>
            <a:pPr algn="l"/>
            <a:r>
              <a:rPr sz="1100" b="1">
                <a:solidFill>
                  <a:srgbClr val="1A2E44"/>
                </a:solidFill>
              </a:rPr>
              <a:t>Payback period</a:t>
            </a:r>
          </a:p>
        </p:txBody>
      </p:sp>
      <p:sp>
        <p:nvSpPr>
          <p:cNvPr id="29" name="TextBox 28"/>
          <p:cNvSpPr txBox="1"/>
          <p:nvPr/>
        </p:nvSpPr>
        <p:spPr>
          <a:xfrm>
            <a:off x="7772400" y="5623560"/>
            <a:ext cx="3931920" cy="256032"/>
          </a:xfrm>
          <a:prstGeom prst="rect">
            <a:avLst/>
          </a:prstGeom>
          <a:noFill/>
        </p:spPr>
        <p:txBody>
          <a:bodyPr wrap="square">
            <a:spAutoFit/>
          </a:bodyPr>
          <a:lstStyle/>
          <a:p>
            <a:pPr algn="l"/>
            <a:r>
              <a:rPr sz="1200" b="0">
                <a:solidFill>
                  <a:srgbClr val="1F61AA"/>
                </a:solidFill>
              </a:rPr>
              <a:t>~7 months</a:t>
            </a:r>
          </a:p>
        </p:txBody>
      </p:sp>
      <p:sp>
        <p:nvSpPr>
          <p:cNvPr id="30" name="TextBox 29"/>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The Proposed Agent — What It Does</a:t>
            </a:r>
          </a:p>
        </p:txBody>
      </p:sp>
      <p:sp>
        <p:nvSpPr>
          <p:cNvPr id="3" name="Oval 2"/>
          <p:cNvSpPr/>
          <p:nvPr/>
        </p:nvSpPr>
        <p:spPr>
          <a:xfrm>
            <a:off x="274320" y="1481328"/>
            <a:ext cx="411480" cy="411480"/>
          </a:xfrm>
          <a:prstGeom prst="ellipse">
            <a:avLst/>
          </a:prstGeom>
          <a:solidFill>
            <a:srgbClr val="1F61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481328"/>
            <a:ext cx="411480" cy="411480"/>
          </a:xfrm>
          <a:prstGeom prst="rect">
            <a:avLst/>
          </a:prstGeom>
          <a:noFill/>
        </p:spPr>
        <p:txBody>
          <a:bodyPr wrap="square">
            <a:spAutoFit/>
          </a:bodyPr>
          <a:lstStyle/>
          <a:p>
            <a:pPr algn="ctr"/>
            <a:r>
              <a:rPr sz="1400" b="1">
                <a:solidFill>
                  <a:srgbClr val="FFFFFF"/>
                </a:solidFill>
              </a:rPr>
              <a:t>1</a:t>
            </a:r>
          </a:p>
        </p:txBody>
      </p:sp>
      <p:sp>
        <p:nvSpPr>
          <p:cNvPr id="5" name="TextBox 4"/>
          <p:cNvSpPr txBox="1"/>
          <p:nvPr/>
        </p:nvSpPr>
        <p:spPr>
          <a:xfrm>
            <a:off x="822960" y="1463040"/>
            <a:ext cx="10789920" cy="347472"/>
          </a:xfrm>
          <a:prstGeom prst="rect">
            <a:avLst/>
          </a:prstGeom>
          <a:noFill/>
        </p:spPr>
        <p:txBody>
          <a:bodyPr wrap="square">
            <a:spAutoFit/>
          </a:bodyPr>
          <a:lstStyle/>
          <a:p>
            <a:pPr algn="l"/>
            <a:r>
              <a:rPr sz="1400" b="1">
                <a:solidFill>
                  <a:srgbClr val="1A2E44"/>
                </a:solidFill>
              </a:rPr>
              <a:t>Receives &amp; assembles evidence</a:t>
            </a:r>
          </a:p>
        </p:txBody>
      </p:sp>
      <p:sp>
        <p:nvSpPr>
          <p:cNvPr id="6" name="TextBox 5"/>
          <p:cNvSpPr txBox="1"/>
          <p:nvPr/>
        </p:nvSpPr>
        <p:spPr>
          <a:xfrm>
            <a:off x="822960" y="1828800"/>
            <a:ext cx="10789920" cy="502920"/>
          </a:xfrm>
          <a:prstGeom prst="rect">
            <a:avLst/>
          </a:prstGeom>
          <a:noFill/>
        </p:spPr>
        <p:txBody>
          <a:bodyPr wrap="square">
            <a:spAutoFit/>
          </a:bodyPr>
          <a:lstStyle/>
          <a:p>
            <a:pPr algn="l"/>
            <a:r>
              <a:rPr sz="1200" b="0">
                <a:solidFill>
                  <a:srgbClr val="444444"/>
                </a:solidFill>
              </a:rPr>
              <a:t>Retrieves invoice data, surcharge records, delivery outcome, and customer account history — what Sandra currently spends 10–12 minutes retrieving manually.  (D4 T-001 – T-004)</a:t>
            </a:r>
          </a:p>
        </p:txBody>
      </p:sp>
      <p:sp>
        <p:nvSpPr>
          <p:cNvPr id="7" name="Oval 6"/>
          <p:cNvSpPr/>
          <p:nvPr/>
        </p:nvSpPr>
        <p:spPr>
          <a:xfrm>
            <a:off x="274320" y="2487168"/>
            <a:ext cx="411480" cy="411480"/>
          </a:xfrm>
          <a:prstGeom prst="ellipse">
            <a:avLst/>
          </a:prstGeom>
          <a:solidFill>
            <a:srgbClr val="1F61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2487168"/>
            <a:ext cx="411480" cy="411480"/>
          </a:xfrm>
          <a:prstGeom prst="rect">
            <a:avLst/>
          </a:prstGeom>
          <a:noFill/>
        </p:spPr>
        <p:txBody>
          <a:bodyPr wrap="square">
            <a:spAutoFit/>
          </a:bodyPr>
          <a:lstStyle/>
          <a:p>
            <a:pPr algn="ctr"/>
            <a:r>
              <a:rPr sz="1400" b="1">
                <a:solidFill>
                  <a:srgbClr val="FFFFFF"/>
                </a:solidFill>
              </a:rPr>
              <a:t>2</a:t>
            </a:r>
          </a:p>
        </p:txBody>
      </p:sp>
      <p:sp>
        <p:nvSpPr>
          <p:cNvPr id="9" name="TextBox 8"/>
          <p:cNvSpPr txBox="1"/>
          <p:nvPr/>
        </p:nvSpPr>
        <p:spPr>
          <a:xfrm>
            <a:off x="822960" y="2468880"/>
            <a:ext cx="10789920" cy="347472"/>
          </a:xfrm>
          <a:prstGeom prst="rect">
            <a:avLst/>
          </a:prstGeom>
          <a:noFill/>
        </p:spPr>
        <p:txBody>
          <a:bodyPr wrap="square">
            <a:spAutoFit/>
          </a:bodyPr>
          <a:lstStyle/>
          <a:p>
            <a:pPr algn="l"/>
            <a:r>
              <a:rPr sz="1400" b="1">
                <a:solidFill>
                  <a:srgbClr val="1A2E44"/>
                </a:solidFill>
              </a:rPr>
              <a:t>Assesses charge validity</a:t>
            </a:r>
          </a:p>
        </p:txBody>
      </p:sp>
      <p:sp>
        <p:nvSpPr>
          <p:cNvPr id="10" name="TextBox 9"/>
          <p:cNvSpPr txBox="1"/>
          <p:nvPr/>
        </p:nvSpPr>
        <p:spPr>
          <a:xfrm>
            <a:off x="822960" y="2834640"/>
            <a:ext cx="10789920" cy="502920"/>
          </a:xfrm>
          <a:prstGeom prst="rect">
            <a:avLst/>
          </a:prstGeom>
          <a:noFill/>
        </p:spPr>
        <p:txBody>
          <a:bodyPr wrap="square">
            <a:spAutoFit/>
          </a:bodyPr>
          <a:lstStyle/>
          <a:p>
            <a:pPr algn="l"/>
            <a:r>
              <a:rPr sz="1200" b="0">
                <a:solidFill>
                  <a:srgbClr val="444444"/>
                </a:solidFill>
              </a:rPr>
              <a:t>Rule-based checks for fuel surcharges, dimensional weight, and redelivery fees. Routes clear-cut cases with a structured verdict; routes ambiguous cases to a human reviewer with all evidence assembled and a confidence score.  (D4 T-007)</a:t>
            </a:r>
          </a:p>
        </p:txBody>
      </p:sp>
      <p:sp>
        <p:nvSpPr>
          <p:cNvPr id="11" name="Oval 10"/>
          <p:cNvSpPr/>
          <p:nvPr/>
        </p:nvSpPr>
        <p:spPr>
          <a:xfrm>
            <a:off x="274320" y="3493008"/>
            <a:ext cx="411480" cy="411480"/>
          </a:xfrm>
          <a:prstGeom prst="ellipse">
            <a:avLst/>
          </a:prstGeom>
          <a:solidFill>
            <a:srgbClr val="1F61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493008"/>
            <a:ext cx="411480" cy="411480"/>
          </a:xfrm>
          <a:prstGeom prst="rect">
            <a:avLst/>
          </a:prstGeom>
          <a:noFill/>
        </p:spPr>
        <p:txBody>
          <a:bodyPr wrap="square">
            <a:spAutoFit/>
          </a:bodyPr>
          <a:lstStyle/>
          <a:p>
            <a:pPr algn="ctr"/>
            <a:r>
              <a:rPr sz="1400" b="1">
                <a:solidFill>
                  <a:srgbClr val="FFFFFF"/>
                </a:solidFill>
              </a:rPr>
              <a:t>3</a:t>
            </a:r>
          </a:p>
        </p:txBody>
      </p:sp>
      <p:sp>
        <p:nvSpPr>
          <p:cNvPr id="13" name="TextBox 12"/>
          <p:cNvSpPr txBox="1"/>
          <p:nvPr/>
        </p:nvSpPr>
        <p:spPr>
          <a:xfrm>
            <a:off x="822960" y="3474720"/>
            <a:ext cx="10789920" cy="347472"/>
          </a:xfrm>
          <a:prstGeom prst="rect">
            <a:avLst/>
          </a:prstGeom>
          <a:noFill/>
        </p:spPr>
        <p:txBody>
          <a:bodyPr wrap="square">
            <a:spAutoFit/>
          </a:bodyPr>
          <a:lstStyle/>
          <a:p>
            <a:pPr algn="l"/>
            <a:r>
              <a:rPr sz="1400" b="1">
                <a:solidFill>
                  <a:srgbClr val="1A2E44"/>
                </a:solidFill>
              </a:rPr>
              <a:t>Enforces a complete audit trail on every credit record</a:t>
            </a:r>
          </a:p>
        </p:txBody>
      </p:sp>
      <p:sp>
        <p:nvSpPr>
          <p:cNvPr id="14" name="TextBox 13"/>
          <p:cNvSpPr txBox="1"/>
          <p:nvPr/>
        </p:nvSpPr>
        <p:spPr>
          <a:xfrm>
            <a:off x="822960" y="3840480"/>
            <a:ext cx="10789920" cy="502920"/>
          </a:xfrm>
          <a:prstGeom prst="rect">
            <a:avLst/>
          </a:prstGeom>
          <a:noFill/>
        </p:spPr>
        <p:txBody>
          <a:bodyPr wrap="square">
            <a:spAutoFit/>
          </a:bodyPr>
          <a:lstStyle/>
          <a:p>
            <a:pPr algn="l"/>
            <a:r>
              <a:rPr sz="1200" b="0">
                <a:solidFill>
                  <a:srgbClr val="444444"/>
                </a:solidFill>
              </a:rPr>
              <a:t>Named approver, CRM case reference, approved reason code — every field the current process routinely leaves blank.  (D4 T-011, FM-3)</a:t>
            </a:r>
          </a:p>
        </p:txBody>
      </p:sp>
      <p:sp>
        <p:nvSpPr>
          <p:cNvPr id="15" name="Oval 14"/>
          <p:cNvSpPr/>
          <p:nvPr/>
        </p:nvSpPr>
        <p:spPr>
          <a:xfrm>
            <a:off x="274320" y="4498848"/>
            <a:ext cx="411480" cy="411480"/>
          </a:xfrm>
          <a:prstGeom prst="ellipse">
            <a:avLst/>
          </a:prstGeom>
          <a:solidFill>
            <a:srgbClr val="1F61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498848"/>
            <a:ext cx="411480" cy="411480"/>
          </a:xfrm>
          <a:prstGeom prst="rect">
            <a:avLst/>
          </a:prstGeom>
          <a:noFill/>
        </p:spPr>
        <p:txBody>
          <a:bodyPr wrap="square">
            <a:spAutoFit/>
          </a:bodyPr>
          <a:lstStyle/>
          <a:p>
            <a:pPr algn="ctr"/>
            <a:r>
              <a:rPr sz="1400" b="1">
                <a:solidFill>
                  <a:srgbClr val="FFFFFF"/>
                </a:solidFill>
              </a:rPr>
              <a:t>4</a:t>
            </a:r>
          </a:p>
        </p:txBody>
      </p:sp>
      <p:sp>
        <p:nvSpPr>
          <p:cNvPr id="17" name="TextBox 16"/>
          <p:cNvSpPr txBox="1"/>
          <p:nvPr/>
        </p:nvSpPr>
        <p:spPr>
          <a:xfrm>
            <a:off x="822960" y="4480560"/>
            <a:ext cx="10789920" cy="347472"/>
          </a:xfrm>
          <a:prstGeom prst="rect">
            <a:avLst/>
          </a:prstGeom>
          <a:noFill/>
        </p:spPr>
        <p:txBody>
          <a:bodyPr wrap="square">
            <a:spAutoFit/>
          </a:bodyPr>
          <a:lstStyle/>
          <a:p>
            <a:pPr algn="l"/>
            <a:r>
              <a:rPr sz="1400" b="1">
                <a:solidFill>
                  <a:srgbClr val="1A2E44"/>
                </a:solidFill>
              </a:rPr>
              <a:t>Flags repeat dispute patterns automatically</a:t>
            </a:r>
          </a:p>
        </p:txBody>
      </p:sp>
      <p:sp>
        <p:nvSpPr>
          <p:cNvPr id="18" name="TextBox 17"/>
          <p:cNvSpPr txBox="1"/>
          <p:nvPr/>
        </p:nvSpPr>
        <p:spPr>
          <a:xfrm>
            <a:off x="822960" y="4846320"/>
            <a:ext cx="10789920" cy="502920"/>
          </a:xfrm>
          <a:prstGeom prst="rect">
            <a:avLst/>
          </a:prstGeom>
          <a:noFill/>
        </p:spPr>
        <p:txBody>
          <a:bodyPr wrap="square">
            <a:spAutoFit/>
          </a:bodyPr>
          <a:lstStyle/>
          <a:p>
            <a:pPr algn="l"/>
            <a:r>
              <a:rPr sz="1200" b="0">
                <a:solidFill>
                  <a:srgbClr val="444444"/>
                </a:solidFill>
              </a:rPr>
              <a:t>A customer with multiple open disputes of the same type triggers senior review rather than being handled as three separate cases — the Hayes &amp; Sons situation would have been surfaced on day one.  (D4 T-008, ET-005)</a:t>
            </a:r>
          </a:p>
        </p:txBody>
      </p:sp>
      <p:sp>
        <p:nvSpPr>
          <p:cNvPr id="19" name="TextBox 18"/>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Where the Agent Stops — The Autonomy Boundary</a:t>
            </a:r>
          </a:p>
        </p:txBody>
      </p:sp>
      <p:graphicFrame>
        <p:nvGraphicFramePr>
          <p:cNvPr id="3" name="Table 2"/>
          <p:cNvGraphicFramePr>
            <a:graphicFrameLocks noGrp="1"/>
          </p:cNvGraphicFramePr>
          <p:nvPr/>
        </p:nvGraphicFramePr>
        <p:xfrm>
          <a:off x="274320" y="1417320"/>
          <a:ext cx="11612880" cy="4480560"/>
        </p:xfrm>
        <a:graphic>
          <a:graphicData uri="http://schemas.openxmlformats.org/drawingml/2006/table">
            <a:tbl>
              <a:tblPr firstRow="1" bandRow="1">
                <a:tableStyleId>{5C22544A-7EE6-4342-B048-85BDC9FD1C3A}</a:tableStyleId>
              </a:tblPr>
              <a:tblGrid>
                <a:gridCol w="2011680"/>
                <a:gridCol w="5029200"/>
                <a:gridCol w="4572000"/>
              </a:tblGrid>
              <a:tr h="1120140">
                <a:tc>
                  <a:txBody>
                    <a:bodyPr/>
                    <a:lstStyle/>
                    <a:p>
                      <a:r>
                        <a:rPr b="1" sz="1200">
                          <a:solidFill>
                            <a:srgbClr val="FFFFFF"/>
                          </a:solidFill>
                        </a:rPr>
                        <a:t>Tier</a:t>
                      </a:r>
                    </a:p>
                  </a:txBody>
                  <a:tcPr>
                    <a:solidFill>
                      <a:srgbClr val="1A2E44"/>
                    </a:solidFill>
                  </a:tcPr>
                </a:tc>
                <a:tc>
                  <a:txBody>
                    <a:bodyPr/>
                    <a:lstStyle/>
                    <a:p>
                      <a:r>
                        <a:rPr b="1" sz="1200">
                          <a:solidFill>
                            <a:srgbClr val="FFFFFF"/>
                          </a:solidFill>
                        </a:rPr>
                        <a:t>What happens</a:t>
                      </a:r>
                    </a:p>
                  </a:txBody>
                  <a:tcPr>
                    <a:solidFill>
                      <a:srgbClr val="1A2E44"/>
                    </a:solidFill>
                  </a:tcPr>
                </a:tc>
                <a:tc>
                  <a:txBody>
                    <a:bodyPr/>
                    <a:lstStyle/>
                    <a:p>
                      <a:r>
                        <a:rPr b="1" sz="1200">
                          <a:solidFill>
                            <a:srgbClr val="FFFFFF"/>
                          </a:solidFill>
                        </a:rPr>
                        <a:t>Examples</a:t>
                      </a:r>
                    </a:p>
                  </a:txBody>
                  <a:tcPr>
                    <a:solidFill>
                      <a:srgbClr val="1A2E44"/>
                    </a:solidFill>
                  </a:tcPr>
                </a:tc>
              </a:tr>
              <a:tr h="1120140">
                <a:tc>
                  <a:txBody>
                    <a:bodyPr/>
                    <a:lstStyle/>
                    <a:p>
                      <a:r>
                        <a:rPr sz="1000" b="1">
                          <a:solidFill>
                            <a:srgbClr val="007A33"/>
                          </a:solidFill>
                        </a:rPr>
                        <a:t>Agent decides alone</a:t>
                      </a:r>
                    </a:p>
                  </a:txBody>
                  <a:tcPr>
                    <a:solidFill>
                      <a:srgbClr val="E8F8ED"/>
                    </a:solidFill>
                  </a:tcPr>
                </a:tc>
                <a:tc>
                  <a:txBody>
                    <a:bodyPr/>
                    <a:lstStyle/>
                    <a:p>
                      <a:r>
                        <a:rPr sz="1000" b="0">
                          <a:solidFill>
                            <a:srgbClr val="444444"/>
                          </a:solidFill>
                        </a:rPr>
                        <a:t>Data retrieval, dispute classification, charge calculation check, stale-data flag, customer acknowledgement, audit record write after approval is confirmed</a:t>
                      </a:r>
                    </a:p>
                  </a:txBody>
                  <a:tcPr>
                    <a:solidFill>
                      <a:srgbClr val="E8F8ED"/>
                    </a:solidFill>
                  </a:tcPr>
                </a:tc>
                <a:tc>
                  <a:txBody>
                    <a:bodyPr/>
                    <a:lstStyle/>
                    <a:p>
                      <a:r>
                        <a:rPr sz="1000" b="0">
                          <a:solidFill>
                            <a:srgbClr val="444444"/>
                          </a:solidFill>
                        </a:rPr>
                        <a:t>Retrieve invoice; classify as fuel surcharge dispute; verify surcharge arithmetic; notify customer once credit is written</a:t>
                      </a:r>
                    </a:p>
                  </a:txBody>
                  <a:tcPr>
                    <a:solidFill>
                      <a:srgbClr val="E8F8ED"/>
                    </a:solidFill>
                  </a:tcPr>
                </a:tc>
              </a:tr>
              <a:tr h="1120140">
                <a:tc>
                  <a:txBody>
                    <a:bodyPr/>
                    <a:lstStyle/>
                    <a:p>
                      <a:r>
                        <a:rPr sz="1000" b="1">
                          <a:solidFill>
                            <a:srgbClr val="FF9900"/>
                          </a:solidFill>
                        </a:rPr>
                        <a:t>Agent prepares — named human must approve</a:t>
                      </a:r>
                    </a:p>
                  </a:txBody>
                  <a:tcPr>
                    <a:solidFill>
                      <a:srgbClr val="FFF5E0"/>
                    </a:solidFill>
                  </a:tcPr>
                </a:tc>
                <a:tc>
                  <a:txBody>
                    <a:bodyPr/>
                    <a:lstStyle/>
                    <a:p>
                      <a:r>
                        <a:rPr sz="1000" b="0">
                          <a:solidFill>
                            <a:srgbClr val="444444"/>
                          </a:solidFill>
                        </a:rPr>
                        <a:t>Every credit record: agent prepares complete record with all required fields; system holds it in pending state until named approver authenticates and confirms via authenticated action; credits above COO-set threshold require senior approver</a:t>
                      </a:r>
                    </a:p>
                  </a:txBody>
                  <a:tcPr>
                    <a:solidFill>
                      <a:srgbClr val="FFF5E0"/>
                    </a:solidFill>
                  </a:tcPr>
                </a:tc>
                <a:tc>
                  <a:txBody>
                    <a:bodyPr/>
                    <a:lstStyle/>
                    <a:p>
                      <a:r>
                        <a:rPr sz="1000" b="0">
                          <a:solidFill>
                            <a:srgbClr val="444444"/>
                          </a:solidFill>
                        </a:rPr>
                        <a:t>Sandra reviews case summary, confirms credit amount, her identity is recorded — then and only then does the system write the record</a:t>
                      </a:r>
                    </a:p>
                  </a:txBody>
                  <a:tcPr>
                    <a:solidFill>
                      <a:srgbClr val="FFF5E0"/>
                    </a:solidFill>
                  </a:tcPr>
                </a:tc>
              </a:tr>
              <a:tr h="1120140">
                <a:tc>
                  <a:txBody>
                    <a:bodyPr/>
                    <a:lstStyle/>
                    <a:p>
                      <a:r>
                        <a:rPr sz="1000" b="1">
                          <a:solidFill>
                            <a:srgbClr val="CC0000"/>
                          </a:solidFill>
                        </a:rPr>
                        <a:t>Human only</a:t>
                      </a:r>
                    </a:p>
                  </a:txBody>
                  <a:tcPr>
                    <a:solidFill>
                      <a:srgbClr val="FFF0F0"/>
                    </a:solidFill>
                  </a:tcPr>
                </a:tc>
                <a:tc>
                  <a:txBody>
                    <a:bodyPr/>
                    <a:lstStyle/>
                    <a:p>
                      <a:r>
                        <a:rPr sz="1000" b="0">
                          <a:solidFill>
                            <a:srgbClr val="444444"/>
                          </a:solidFill>
                        </a:rPr>
                        <a:t>Credit amount decision (no written policy exists yet); disputes outside the three standard types; legal or ombudsman referrals; accounts under a payment plan or in collections</a:t>
                      </a:r>
                    </a:p>
                  </a:txBody>
                  <a:tcPr>
                    <a:solidFill>
                      <a:srgbClr val="FFF0F0"/>
                    </a:solidFill>
                  </a:tcPr>
                </a:tc>
                <a:tc>
                  <a:txBody>
                    <a:bodyPr/>
                    <a:lstStyle/>
                    <a:p>
                      <a:r>
                        <a:rPr sz="1000" b="0">
                          <a:solidFill>
                            <a:srgbClr val="444444"/>
                          </a:solidFill>
                        </a:rPr>
                        <a:t>Sandra decides the credit amount; agent prepares the paperwork around that decision</a:t>
                      </a:r>
                    </a:p>
                  </a:txBody>
                  <a:tcPr>
                    <a:solidFill>
                      <a:srgbClr val="FFF0F0"/>
                    </a:solidFill>
                  </a:tcPr>
                </a:tc>
              </a:tr>
            </a:tbl>
          </a:graphicData>
        </a:graphic>
      </p:graphicFrame>
      <p:sp>
        <p:nvSpPr>
          <p:cNvPr id="4" name="TextBox 3"/>
          <p:cNvSpPr txBox="1"/>
          <p:nvPr/>
        </p:nvSpPr>
        <p:spPr>
          <a:xfrm>
            <a:off x="365760" y="6035040"/>
            <a:ext cx="11247120" cy="640080"/>
          </a:xfrm>
          <a:prstGeom prst="rect">
            <a:avLst/>
          </a:prstGeom>
          <a:noFill/>
        </p:spPr>
        <p:txBody>
          <a:bodyPr wrap="square">
            <a:spAutoFit/>
          </a:bodyPr>
          <a:lstStyle/>
          <a:p>
            <a:pPr algn="l"/>
            <a:r>
              <a:rPr sz="1100" b="0">
                <a:solidFill>
                  <a:srgbClr val="1A2E44"/>
                </a:solidFill>
              </a:rPr>
              <a:t>⚑  The named-approver gate is enforced by the system — not by procedure. The agent has no write access to the approver field. A daily audit scan detects any bypass within 24 hours.  (D4 §5, FM-5)</a:t>
            </a:r>
          </a:p>
        </p:txBody>
      </p:sp>
      <p:sp>
        <p:nvSpPr>
          <p:cNvPr id="5" name="TextBox 4"/>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Integration Readiness</a:t>
            </a:r>
          </a:p>
        </p:txBody>
      </p:sp>
      <p:graphicFrame>
        <p:nvGraphicFramePr>
          <p:cNvPr id="3" name="Table 2"/>
          <p:cNvGraphicFramePr>
            <a:graphicFrameLocks noGrp="1"/>
          </p:cNvGraphicFramePr>
          <p:nvPr/>
        </p:nvGraphicFramePr>
        <p:xfrm>
          <a:off x="274320" y="1417320"/>
          <a:ext cx="11612880" cy="3657600"/>
        </p:xfrm>
        <a:graphic>
          <a:graphicData uri="http://schemas.openxmlformats.org/drawingml/2006/table">
            <a:tbl>
              <a:tblPr firstRow="1" bandRow="1">
                <a:tableStyleId>{5C22544A-7EE6-4342-B048-85BDC9FD1C3A}</a:tableStyleId>
              </a:tblPr>
              <a:tblGrid>
                <a:gridCol w="4114800"/>
                <a:gridCol w="1645920"/>
                <a:gridCol w="5852160"/>
              </a:tblGrid>
              <a:tr h="914400">
                <a:tc>
                  <a:txBody>
                    <a:bodyPr/>
                    <a:lstStyle/>
                    <a:p>
                      <a:r>
                        <a:rPr b="1" sz="1200">
                          <a:solidFill>
                            <a:srgbClr val="FFFFFF"/>
                          </a:solidFill>
                        </a:rPr>
                        <a:t>Integration</a:t>
                      </a:r>
                    </a:p>
                  </a:txBody>
                  <a:tcPr>
                    <a:solidFill>
                      <a:srgbClr val="1A2E44"/>
                    </a:solidFill>
                  </a:tcPr>
                </a:tc>
                <a:tc>
                  <a:txBody>
                    <a:bodyPr/>
                    <a:lstStyle/>
                    <a:p>
                      <a:r>
                        <a:rPr b="1" sz="1200">
                          <a:solidFill>
                            <a:srgbClr val="FFFFFF"/>
                          </a:solidFill>
                        </a:rPr>
                        <a:t>Status</a:t>
                      </a:r>
                    </a:p>
                  </a:txBody>
                  <a:tcPr>
                    <a:solidFill>
                      <a:srgbClr val="1A2E44"/>
                    </a:solidFill>
                  </a:tcPr>
                </a:tc>
                <a:tc>
                  <a:txBody>
                    <a:bodyPr/>
                    <a:lstStyle/>
                    <a:p>
                      <a:r>
                        <a:rPr b="1" sz="1200">
                          <a:solidFill>
                            <a:srgbClr val="FFFFFF"/>
                          </a:solidFill>
                        </a:rPr>
                        <a:t>What it means</a:t>
                      </a:r>
                    </a:p>
                  </a:txBody>
                  <a:tcPr>
                    <a:solidFill>
                      <a:srgbClr val="1A2E44"/>
                    </a:solidFill>
                  </a:tcPr>
                </a:tc>
              </a:tr>
              <a:tr h="914400">
                <a:tc>
                  <a:txBody>
                    <a:bodyPr/>
                    <a:lstStyle/>
                    <a:p>
                      <a:r>
                        <a:rPr sz="1000" b="0">
                          <a:solidFill>
                            <a:srgbClr val="444444"/>
                          </a:solidFill>
                        </a:rPr>
                        <a:t>CRM (Salesforce) — case queue, customer data, delivery records, outbound messaging</a:t>
                      </a:r>
                    </a:p>
                  </a:txBody>
                  <a:tcPr>
                    <a:solidFill>
                      <a:srgbClr val="FFF5E0"/>
                    </a:solidFill>
                  </a:tcPr>
                </a:tc>
                <a:tc>
                  <a:txBody>
                    <a:bodyPr/>
                    <a:lstStyle/>
                    <a:p>
                      <a:r>
                        <a:rPr sz="1000" b="1">
                          <a:solidFill>
                            <a:srgbClr val="FF9900"/>
                          </a:solidFill>
                        </a:rPr>
                        <a:t>AMBER</a:t>
                      </a:r>
                    </a:p>
                  </a:txBody>
                  <a:tcPr>
                    <a:solidFill>
                      <a:srgbClr val="FFF5E0"/>
                    </a:solidFill>
                  </a:tcPr>
                </a:tc>
                <a:tc>
                  <a:txBody>
                    <a:bodyPr/>
                    <a:lstStyle/>
                    <a:p>
                      <a:r>
                        <a:rPr sz="1000" b="0">
                          <a:solidFill>
                            <a:srgbClr val="444444"/>
                          </a:solidFill>
                        </a:rPr>
                        <a:t>REST APIs confirmed available. Whether inbound disputes auto-create CRM cases vs. Sandra creating them manually is not yet confirmed — if manual, the agent's intake trigger depends on Sandra taking the first step</a:t>
                      </a:r>
                    </a:p>
                  </a:txBody>
                  <a:tcPr>
                    <a:solidFill>
                      <a:srgbClr val="FFF5E0"/>
                    </a:solidFill>
                  </a:tcPr>
                </a:tc>
              </a:tr>
              <a:tr h="914400">
                <a:tc>
                  <a:txBody>
                    <a:bodyPr/>
                    <a:lstStyle/>
                    <a:p>
                      <a:r>
                        <a:rPr sz="1000" b="0">
                          <a:solidFill>
                            <a:srgbClr val="444444"/>
                          </a:solidFill>
                        </a:rPr>
                        <a:t>Aurum Billing — credit record write path</a:t>
                      </a:r>
                    </a:p>
                  </a:txBody>
                  <a:tcPr>
                    <a:solidFill>
                      <a:srgbClr val="FFECEC"/>
                    </a:solidFill>
                  </a:tcPr>
                </a:tc>
                <a:tc>
                  <a:txBody>
                    <a:bodyPr/>
                    <a:lstStyle/>
                    <a:p>
                      <a:r>
                        <a:rPr sz="1000" b="1">
                          <a:solidFill>
                            <a:srgbClr val="CC0000"/>
                          </a:solidFill>
                        </a:rPr>
                        <a:t>RED — BLOCKING</a:t>
                      </a:r>
                    </a:p>
                  </a:txBody>
                  <a:tcPr>
                    <a:solidFill>
                      <a:srgbClr val="FFECEC"/>
                    </a:solidFill>
                  </a:tcPr>
                </a:tc>
                <a:tc>
                  <a:txBody>
                    <a:bodyPr/>
                    <a:lstStyle/>
                    <a:p>
                      <a:r>
                        <a:rPr sz="1000" b="0">
                          <a:solidFill>
                            <a:srgbClr val="444444"/>
                          </a:solidFill>
                        </a:rPr>
                        <a:t>No programmatic write path to the credit ledger confirmed. If none exists, the agent can prepare credit records but cannot submit them, and the 48-hour manual ticket process remains. Single largest risk to the build timeline.  (D5 G-1)</a:t>
                      </a:r>
                    </a:p>
                  </a:txBody>
                  <a:tcPr>
                    <a:solidFill>
                      <a:srgbClr val="FFECEC"/>
                    </a:solidFill>
                  </a:tcPr>
                </a:tc>
              </a:tr>
              <a:tr h="914400">
                <a:tc>
                  <a:txBody>
                    <a:bodyPr/>
                    <a:lstStyle/>
                    <a:p>
                      <a:r>
                        <a:rPr sz="1000" b="0">
                          <a:solidFill>
                            <a:srgbClr val="444444"/>
                          </a:solidFill>
                        </a:rPr>
                        <a:t>Credit policy</a:t>
                      </a:r>
                    </a:p>
                  </a:txBody>
                  <a:tcPr>
                    <a:solidFill>
                      <a:srgbClr val="FFECEC"/>
                    </a:solidFill>
                  </a:tcPr>
                </a:tc>
                <a:tc>
                  <a:txBody>
                    <a:bodyPr/>
                    <a:lstStyle/>
                    <a:p>
                      <a:r>
                        <a:rPr sz="1000" b="1">
                          <a:solidFill>
                            <a:srgbClr val="CC0000"/>
                          </a:solidFill>
                        </a:rPr>
                        <a:t>RED — BLOCKING</a:t>
                      </a:r>
                    </a:p>
                  </a:txBody>
                  <a:tcPr>
                    <a:solidFill>
                      <a:srgbClr val="FFECEC"/>
                    </a:solidFill>
                  </a:tcPr>
                </a:tc>
                <a:tc>
                  <a:txBody>
                    <a:bodyPr/>
                    <a:lstStyle/>
                    <a:p>
                      <a:r>
                        <a:rPr sz="1000" b="0">
                          <a:solidFill>
                            <a:srgbClr val="444444"/>
                          </a:solidFill>
                        </a:rPr>
                        <a:t>No formal written credit policy exists. The agent cannot recommend credit amounts without explicit approved rules. This is a policy design task — not a technical one — but it must be completed before deployment with full capability.  (D5 G-2)</a:t>
                      </a:r>
                    </a:p>
                  </a:txBody>
                  <a:tcPr>
                    <a:solidFill>
                      <a:srgbClr val="FFECEC"/>
                    </a:solidFill>
                  </a:tcPr>
                </a:tc>
              </a:tr>
            </a:tbl>
          </a:graphicData>
        </a:graphic>
      </p:graphicFrame>
      <p:sp>
        <p:nvSpPr>
          <p:cNvPr id="4" name="TextBox 3"/>
          <p:cNvSpPr txBox="1"/>
          <p:nvPr/>
        </p:nvSpPr>
        <p:spPr>
          <a:xfrm>
            <a:off x="365760" y="5257800"/>
            <a:ext cx="11247120" cy="914400"/>
          </a:xfrm>
          <a:prstGeom prst="rect">
            <a:avLst/>
          </a:prstGeom>
          <a:noFill/>
        </p:spPr>
        <p:txBody>
          <a:bodyPr wrap="square">
            <a:spAutoFit/>
          </a:bodyPr>
          <a:lstStyle/>
          <a:p>
            <a:pPr algn="l"/>
            <a:r>
              <a:rPr sz="1200" b="0">
                <a:solidFill>
                  <a:srgbClr val="1A2E44"/>
                </a:solidFill>
              </a:rPr>
              <a:t>Confirmation needed before build can start:
"Does Aurum Billing expose any write interface — even a controlled database path or structured import file — that does not require submitting a manual support ticket?"</a:t>
            </a:r>
          </a:p>
        </p:txBody>
      </p:sp>
      <p:sp>
        <p:nvSpPr>
          <p:cNvPr id="5" name="TextBox 4"/>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What We Need From You — Five Questions That Determine the Design</a:t>
            </a:r>
          </a:p>
        </p:txBody>
      </p:sp>
      <p:sp>
        <p:nvSpPr>
          <p:cNvPr id="3" name="TextBox 2"/>
          <p:cNvSpPr txBox="1"/>
          <p:nvPr/>
        </p:nvSpPr>
        <p:spPr>
          <a:xfrm>
            <a:off x="365760" y="1444752"/>
            <a:ext cx="11338560" cy="292608"/>
          </a:xfrm>
          <a:prstGeom prst="rect">
            <a:avLst/>
          </a:prstGeom>
          <a:noFill/>
        </p:spPr>
        <p:txBody>
          <a:bodyPr wrap="square">
            <a:spAutoFit/>
          </a:bodyPr>
          <a:lstStyle/>
          <a:p>
            <a:pPr algn="l"/>
            <a:r>
              <a:rPr sz="1300" b="1">
                <a:solidFill>
                  <a:srgbClr val="1A2E44"/>
                </a:solidFill>
              </a:rPr>
              <a:t>1. Credit policy</a:t>
            </a:r>
          </a:p>
        </p:txBody>
      </p:sp>
      <p:sp>
        <p:nvSpPr>
          <p:cNvPr id="4" name="TextBox 3"/>
          <p:cNvSpPr txBox="1"/>
          <p:nvPr/>
        </p:nvSpPr>
        <p:spPr>
          <a:xfrm>
            <a:off x="548640" y="1746504"/>
            <a:ext cx="11155680" cy="475488"/>
          </a:xfrm>
          <a:prstGeom prst="rect">
            <a:avLst/>
          </a:prstGeom>
          <a:noFill/>
        </p:spPr>
        <p:txBody>
          <a:bodyPr wrap="square">
            <a:spAutoFit/>
          </a:bodyPr>
          <a:lstStyle/>
          <a:p>
            <a:pPr algn="l"/>
            <a:r>
              <a:rPr sz="1100" b="0">
                <a:solidFill>
                  <a:srgbClr val="444444"/>
                </a:solidFill>
              </a:rPr>
              <a:t>Does a written credit policy exist anywhere — even a draft or email thread — that documents the rules for when to credit and how much?
If yes: it becomes the agent's rulebook.  If no: someone must write it before build begins.</a:t>
            </a:r>
          </a:p>
        </p:txBody>
      </p:sp>
      <p:sp>
        <p:nvSpPr>
          <p:cNvPr id="5" name="TextBox 4"/>
          <p:cNvSpPr txBox="1"/>
          <p:nvPr/>
        </p:nvSpPr>
        <p:spPr>
          <a:xfrm>
            <a:off x="365760" y="2295144"/>
            <a:ext cx="11338560" cy="292608"/>
          </a:xfrm>
          <a:prstGeom prst="rect">
            <a:avLst/>
          </a:prstGeom>
          <a:noFill/>
        </p:spPr>
        <p:txBody>
          <a:bodyPr wrap="square">
            <a:spAutoFit/>
          </a:bodyPr>
          <a:lstStyle/>
          <a:p>
            <a:pPr algn="l"/>
            <a:r>
              <a:rPr sz="1300" b="1">
                <a:solidFill>
                  <a:srgbClr val="1A2E44"/>
                </a:solidFill>
              </a:rPr>
              <a:t>2. Sandra's credit-apply steps</a:t>
            </a:r>
          </a:p>
        </p:txBody>
      </p:sp>
      <p:sp>
        <p:nvSpPr>
          <p:cNvPr id="6" name="TextBox 5"/>
          <p:cNvSpPr txBox="1"/>
          <p:nvPr/>
        </p:nvSpPr>
        <p:spPr>
          <a:xfrm>
            <a:off x="548640" y="2596896"/>
            <a:ext cx="11155680" cy="475488"/>
          </a:xfrm>
          <a:prstGeom prst="rect">
            <a:avLst/>
          </a:prstGeom>
          <a:noFill/>
        </p:spPr>
        <p:txBody>
          <a:bodyPr wrap="square">
            <a:spAutoFit/>
          </a:bodyPr>
          <a:lstStyle/>
          <a:p>
            <a:pPr algn="l"/>
            <a:r>
              <a:rPr sz="1100" b="0">
                <a:solidFill>
                  <a:srgbClr val="444444"/>
                </a:solidFill>
              </a:rPr>
              <a:t>When Sandra applies a credit today, what exactly does she do, step by step — which system, what does she type or click?
This single answer tells us whether a programmatic credit write path exists.</a:t>
            </a:r>
          </a:p>
        </p:txBody>
      </p:sp>
      <p:sp>
        <p:nvSpPr>
          <p:cNvPr id="7" name="TextBox 6"/>
          <p:cNvSpPr txBox="1"/>
          <p:nvPr/>
        </p:nvSpPr>
        <p:spPr>
          <a:xfrm>
            <a:off x="365760" y="3145536"/>
            <a:ext cx="11338560" cy="292608"/>
          </a:xfrm>
          <a:prstGeom prst="rect">
            <a:avLst/>
          </a:prstGeom>
          <a:noFill/>
        </p:spPr>
        <p:txBody>
          <a:bodyPr wrap="square">
            <a:spAutoFit/>
          </a:bodyPr>
          <a:lstStyle/>
          <a:p>
            <a:pPr algn="l"/>
            <a:r>
              <a:rPr sz="1300" b="1">
                <a:solidFill>
                  <a:srgbClr val="1A2E44"/>
                </a:solidFill>
              </a:rPr>
              <a:t>3. Approval authority</a:t>
            </a:r>
          </a:p>
        </p:txBody>
      </p:sp>
      <p:sp>
        <p:nvSpPr>
          <p:cNvPr id="8" name="TextBox 7"/>
          <p:cNvSpPr txBox="1"/>
          <p:nvPr/>
        </p:nvSpPr>
        <p:spPr>
          <a:xfrm>
            <a:off x="548640" y="3447288"/>
            <a:ext cx="11155680" cy="475488"/>
          </a:xfrm>
          <a:prstGeom prst="rect">
            <a:avLst/>
          </a:prstGeom>
          <a:noFill/>
        </p:spPr>
        <p:txBody>
          <a:bodyPr wrap="square">
            <a:spAutoFit/>
          </a:bodyPr>
          <a:lstStyle/>
          <a:p>
            <a:pPr algn="l"/>
            <a:r>
              <a:rPr sz="1100" b="0">
                <a:solidFill>
                  <a:srgbClr val="444444"/>
                </a:solidFill>
              </a:rPr>
              <a:t>Who at Apex is authorised to approve a credit — and is there a threshold above which a manager must sign off?
We need this number to configure the approval routing.</a:t>
            </a:r>
          </a:p>
        </p:txBody>
      </p:sp>
      <p:sp>
        <p:nvSpPr>
          <p:cNvPr id="9" name="TextBox 8"/>
          <p:cNvSpPr txBox="1"/>
          <p:nvPr/>
        </p:nvSpPr>
        <p:spPr>
          <a:xfrm>
            <a:off x="365760" y="3995928"/>
            <a:ext cx="11338560" cy="292608"/>
          </a:xfrm>
          <a:prstGeom prst="rect">
            <a:avLst/>
          </a:prstGeom>
          <a:noFill/>
        </p:spPr>
        <p:txBody>
          <a:bodyPr wrap="square">
            <a:spAutoFit/>
          </a:bodyPr>
          <a:lstStyle/>
          <a:p>
            <a:pPr algn="l"/>
            <a:r>
              <a:rPr sz="1300" b="1">
                <a:solidFill>
                  <a:srgbClr val="1A2E44"/>
                </a:solidFill>
              </a:rPr>
              <a:t>4. 2024 failure — what would convince you this time is different?</a:t>
            </a:r>
          </a:p>
        </p:txBody>
      </p:sp>
      <p:sp>
        <p:nvSpPr>
          <p:cNvPr id="10" name="TextBox 9"/>
          <p:cNvSpPr txBox="1"/>
          <p:nvPr/>
        </p:nvSpPr>
        <p:spPr>
          <a:xfrm>
            <a:off x="548640" y="4297680"/>
            <a:ext cx="11155680" cy="475488"/>
          </a:xfrm>
          <a:prstGeom prst="rect">
            <a:avLst/>
          </a:prstGeom>
          <a:noFill/>
        </p:spPr>
        <p:txBody>
          <a:bodyPr wrap="square">
            <a:spAutoFit/>
          </a:bodyPr>
          <a:lstStyle/>
          <a:p>
            <a:pPr algn="l"/>
            <a:r>
              <a:rPr sz="1100" b="0">
                <a:solidFill>
                  <a:srgbClr val="444444"/>
                </a:solidFill>
              </a:rPr>
              <a:t>The 2024 RPA broke when Aurum's data format changed without notice. This agent reads from the same Aurum exports. What would you need to see in the first 30 days?
Your answer determines whether we lead deployment with the compliance feature or handle-time reduction.</a:t>
            </a:r>
          </a:p>
        </p:txBody>
      </p:sp>
      <p:sp>
        <p:nvSpPr>
          <p:cNvPr id="11" name="TextBox 10"/>
          <p:cNvSpPr txBox="1"/>
          <p:nvPr/>
        </p:nvSpPr>
        <p:spPr>
          <a:xfrm>
            <a:off x="365760" y="4846320"/>
            <a:ext cx="11338560" cy="292608"/>
          </a:xfrm>
          <a:prstGeom prst="rect">
            <a:avLst/>
          </a:prstGeom>
          <a:noFill/>
        </p:spPr>
        <p:txBody>
          <a:bodyPr wrap="square">
            <a:spAutoFit/>
          </a:bodyPr>
          <a:lstStyle/>
          <a:p>
            <a:pPr algn="l"/>
            <a:r>
              <a:rPr sz="1300" b="1">
                <a:solidFill>
                  <a:srgbClr val="1A2E44"/>
                </a:solidFill>
              </a:rPr>
              <a:t>5. Sandra's redeployed capacity</a:t>
            </a:r>
          </a:p>
        </p:txBody>
      </p:sp>
      <p:sp>
        <p:nvSpPr>
          <p:cNvPr id="12" name="TextBox 11"/>
          <p:cNvSpPr txBox="1"/>
          <p:nvPr/>
        </p:nvSpPr>
        <p:spPr>
          <a:xfrm>
            <a:off x="548640" y="5148072"/>
            <a:ext cx="11155680" cy="475488"/>
          </a:xfrm>
          <a:prstGeom prst="rect">
            <a:avLst/>
          </a:prstGeom>
          <a:noFill/>
        </p:spPr>
        <p:txBody>
          <a:bodyPr wrap="square">
            <a:spAutoFit/>
          </a:bodyPr>
          <a:lstStyle/>
          <a:p>
            <a:pPr algn="l"/>
            <a:r>
              <a:rPr sz="1100" b="0">
                <a:solidFill>
                  <a:srgbClr val="444444"/>
                </a:solidFill>
              </a:rPr>
              <a:t>If this agent reduces Sandra's time on billing disputes from 28 min to ~8 min per case, what does she do with the rest of her day — is there already a plan for that capacity?
An agent that creates capacity without a redeployment plan generates internal resistance.</a:t>
            </a:r>
          </a:p>
        </p:txBody>
      </p:sp>
      <p:sp>
        <p:nvSpPr>
          <p:cNvPr id="13" name="TextBox 12"/>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2E44"/>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Discussion</a:t>
            </a:r>
          </a:p>
        </p:txBody>
      </p:sp>
      <p:sp>
        <p:nvSpPr>
          <p:cNvPr id="3" name="TextBox 2"/>
          <p:cNvSpPr txBox="1"/>
          <p:nvPr/>
        </p:nvSpPr>
        <p:spPr>
          <a:xfrm>
            <a:off x="731520" y="1828800"/>
            <a:ext cx="10972800" cy="384048"/>
          </a:xfrm>
          <a:prstGeom prst="rect">
            <a:avLst/>
          </a:prstGeom>
          <a:noFill/>
        </p:spPr>
        <p:txBody>
          <a:bodyPr wrap="square">
            <a:spAutoFit/>
          </a:bodyPr>
          <a:lstStyle/>
          <a:p>
            <a:pPr algn="l"/>
            <a:r>
              <a:rPr sz="1600" b="1">
                <a:solidFill>
                  <a:srgbClr val="FFFFFF"/>
                </a:solidFill>
              </a:rPr>
              <a:t>1. The compliance gap is already there.</a:t>
            </a:r>
          </a:p>
        </p:txBody>
      </p:sp>
      <p:sp>
        <p:nvSpPr>
          <p:cNvPr id="4" name="TextBox 3"/>
          <p:cNvSpPr txBox="1"/>
          <p:nvPr/>
        </p:nvSpPr>
        <p:spPr>
          <a:xfrm>
            <a:off x="731520" y="2231136"/>
            <a:ext cx="10972800" cy="640080"/>
          </a:xfrm>
          <a:prstGeom prst="rect">
            <a:avLst/>
          </a:prstGeom>
          <a:noFill/>
        </p:spPr>
        <p:txBody>
          <a:bodyPr wrap="square">
            <a:spAutoFit/>
          </a:bodyPr>
          <a:lstStyle/>
          <a:p>
            <a:pPr algn="l"/>
            <a:r>
              <a:rPr sz="1300" b="0">
                <a:solidFill>
                  <a:srgbClr val="BBCCDD"/>
                </a:solidFill>
              </a:rPr>
              <a:t>Credits are being applied today without an audit trail — the agent closes this gap technically, but it will make that gap visible in a way it hasn't been before. Sandra's process will change.  How does the team hear that?</a:t>
            </a:r>
          </a:p>
        </p:txBody>
      </p:sp>
      <p:sp>
        <p:nvSpPr>
          <p:cNvPr id="5" name="TextBox 4"/>
          <p:cNvSpPr txBox="1"/>
          <p:nvPr/>
        </p:nvSpPr>
        <p:spPr>
          <a:xfrm>
            <a:off x="731520" y="3099816"/>
            <a:ext cx="10972800" cy="384048"/>
          </a:xfrm>
          <a:prstGeom prst="rect">
            <a:avLst/>
          </a:prstGeom>
          <a:noFill/>
        </p:spPr>
        <p:txBody>
          <a:bodyPr wrap="square">
            <a:spAutoFit/>
          </a:bodyPr>
          <a:lstStyle/>
          <a:p>
            <a:pPr algn="l"/>
            <a:r>
              <a:rPr sz="1600" b="1">
                <a:solidFill>
                  <a:srgbClr val="FFFFFF"/>
                </a:solidFill>
              </a:rPr>
              <a:t>2. The Aurum write path has three realistic options.</a:t>
            </a:r>
          </a:p>
        </p:txBody>
      </p:sp>
      <p:sp>
        <p:nvSpPr>
          <p:cNvPr id="6" name="TextBox 5"/>
          <p:cNvSpPr txBox="1"/>
          <p:nvPr/>
        </p:nvSpPr>
        <p:spPr>
          <a:xfrm>
            <a:off x="731520" y="3502152"/>
            <a:ext cx="10972800" cy="640080"/>
          </a:xfrm>
          <a:prstGeom prst="rect">
            <a:avLst/>
          </a:prstGeom>
          <a:noFill/>
        </p:spPr>
        <p:txBody>
          <a:bodyPr wrap="square">
            <a:spAutoFit/>
          </a:bodyPr>
          <a:lstStyle/>
          <a:p>
            <a:pPr algn="l"/>
            <a:r>
              <a:rPr sz="1300" b="0">
                <a:solidFill>
                  <a:srgbClr val="BBCCDD"/>
                </a:solidFill>
              </a:rPr>
              <a:t>Automated email-ticket submission · Agent-assisted manual submit · Direct database write with Aurum vendor support.  Each has a different risk and cost profile.  Which fits your risk appetite for the first six months?</a:t>
            </a:r>
          </a:p>
        </p:txBody>
      </p:sp>
      <p:sp>
        <p:nvSpPr>
          <p:cNvPr id="7" name="TextBox 6"/>
          <p:cNvSpPr txBox="1"/>
          <p:nvPr/>
        </p:nvSpPr>
        <p:spPr>
          <a:xfrm>
            <a:off x="731520" y="4370832"/>
            <a:ext cx="10972800" cy="384048"/>
          </a:xfrm>
          <a:prstGeom prst="rect">
            <a:avLst/>
          </a:prstGeom>
          <a:noFill/>
        </p:spPr>
        <p:txBody>
          <a:bodyPr wrap="square">
            <a:spAutoFit/>
          </a:bodyPr>
          <a:lstStyle/>
          <a:p>
            <a:pPr algn="l"/>
            <a:r>
              <a:rPr sz="1600" b="1">
                <a:solidFill>
                  <a:srgbClr val="FFFFFF"/>
                </a:solidFill>
              </a:rPr>
              <a:t>3. The credit policy is a business decision, not a technical one.</a:t>
            </a:r>
          </a:p>
        </p:txBody>
      </p:sp>
      <p:sp>
        <p:nvSpPr>
          <p:cNvPr id="8" name="TextBox 7"/>
          <p:cNvSpPr txBox="1"/>
          <p:nvPr/>
        </p:nvSpPr>
        <p:spPr>
          <a:xfrm>
            <a:off x="731520" y="4773168"/>
            <a:ext cx="10972800" cy="640080"/>
          </a:xfrm>
          <a:prstGeom prst="rect">
            <a:avLst/>
          </a:prstGeom>
          <a:noFill/>
        </p:spPr>
        <p:txBody>
          <a:bodyPr wrap="square">
            <a:spAutoFit/>
          </a:bodyPr>
          <a:lstStyle/>
          <a:p>
            <a:pPr algn="l"/>
            <a:r>
              <a:rPr sz="1300" b="0">
                <a:solidFill>
                  <a:srgbClr val="BBCCDD"/>
                </a:solidFill>
              </a:rPr>
              <a:t>The agent needs explicit written rules before it can recommend credit amounts. We can help frame what that document needs to contain — but approval and ownership sit with you and finance.  Is this a pre-build sprint, or does a version already exist?</a:t>
            </a:r>
          </a:p>
        </p:txBody>
      </p:sp>
      <p:sp>
        <p:nvSpPr>
          <p:cNvPr id="9" name="TextBox 8"/>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l"/>
            <a:r>
              <a:rPr sz="2800" b="1">
                <a:solidFill>
                  <a:srgbClr val="FFFFFF"/>
                </a:solidFill>
              </a:rPr>
              <a:t>Next Steps</a:t>
            </a:r>
          </a:p>
        </p:txBody>
      </p:sp>
      <p:graphicFrame>
        <p:nvGraphicFramePr>
          <p:cNvPr id="3" name="Table 2"/>
          <p:cNvGraphicFramePr>
            <a:graphicFrameLocks noGrp="1"/>
          </p:cNvGraphicFramePr>
          <p:nvPr/>
        </p:nvGraphicFramePr>
        <p:xfrm>
          <a:off x="274320" y="1417320"/>
          <a:ext cx="11338560" cy="4389120"/>
        </p:xfrm>
        <a:graphic>
          <a:graphicData uri="http://schemas.openxmlformats.org/drawingml/2006/table">
            <a:tbl>
              <a:tblPr firstRow="1" bandRow="1">
                <a:tableStyleId>{5C22544A-7EE6-4342-B048-85BDC9FD1C3A}</a:tableStyleId>
              </a:tblPr>
              <a:tblGrid>
                <a:gridCol w="4754880"/>
                <a:gridCol w="1828800"/>
                <a:gridCol w="2194560"/>
                <a:gridCol w="2560320"/>
              </a:tblGrid>
              <a:tr h="877824">
                <a:tc>
                  <a:txBody>
                    <a:bodyPr/>
                    <a:lstStyle/>
                    <a:p>
                      <a:r>
                        <a:rPr b="1" sz="1200">
                          <a:solidFill>
                            <a:srgbClr val="FFFFFF"/>
                          </a:solidFill>
                        </a:rPr>
                        <a:t>Action</a:t>
                      </a:r>
                    </a:p>
                  </a:txBody>
                  <a:tcPr>
                    <a:solidFill>
                      <a:srgbClr val="1A2E44"/>
                    </a:solidFill>
                  </a:tcPr>
                </a:tc>
                <a:tc>
                  <a:txBody>
                    <a:bodyPr/>
                    <a:lstStyle/>
                    <a:p>
                      <a:r>
                        <a:rPr b="1" sz="1200">
                          <a:solidFill>
                            <a:srgbClr val="FFFFFF"/>
                          </a:solidFill>
                        </a:rPr>
                        <a:t>Owner</a:t>
                      </a:r>
                    </a:p>
                  </a:txBody>
                  <a:tcPr>
                    <a:solidFill>
                      <a:srgbClr val="1A2E44"/>
                    </a:solidFill>
                  </a:tcPr>
                </a:tc>
                <a:tc>
                  <a:txBody>
                    <a:bodyPr/>
                    <a:lstStyle/>
                    <a:p>
                      <a:r>
                        <a:rPr b="1" sz="1200">
                          <a:solidFill>
                            <a:srgbClr val="FFFFFF"/>
                          </a:solidFill>
                        </a:rPr>
                        <a:t>Dependency</a:t>
                      </a:r>
                    </a:p>
                  </a:txBody>
                  <a:tcPr>
                    <a:solidFill>
                      <a:srgbClr val="1A2E44"/>
                    </a:solidFill>
                  </a:tcPr>
                </a:tc>
                <a:tc>
                  <a:txBody>
                    <a:bodyPr/>
                    <a:lstStyle/>
                    <a:p>
                      <a:r>
                        <a:rPr b="1" sz="1200">
                          <a:solidFill>
                            <a:srgbClr val="FFFFFF"/>
                          </a:solidFill>
                        </a:rPr>
                        <a:t>Target date</a:t>
                      </a:r>
                    </a:p>
                  </a:txBody>
                  <a:tcPr>
                    <a:solidFill>
                      <a:srgbClr val="1A2E44"/>
                    </a:solidFill>
                  </a:tcPr>
                </a:tc>
              </a:tr>
              <a:tr h="877824">
                <a:tc>
                  <a:txBody>
                    <a:bodyPr/>
                    <a:lstStyle/>
                    <a:p>
                      <a:r>
                        <a:rPr sz="1000">
                          <a:solidFill>
                            <a:srgbClr val="444444"/>
                          </a:solidFill>
                        </a:rPr>
                        <a:t>Ask Apex IT and the Aurum vendor: does Aurum expose any write interface for credit records that does not require the manual support ticket?</a:t>
                      </a:r>
                    </a:p>
                  </a:txBody>
                  <a:tcPr>
                    <a:solidFill>
                      <a:srgbClr val="E8F1FB"/>
                    </a:solidFill>
                  </a:tcPr>
                </a:tc>
                <a:tc>
                  <a:txBody>
                    <a:bodyPr/>
                    <a:lstStyle/>
                    <a:p>
                      <a:r>
                        <a:rPr sz="1000">
                          <a:solidFill>
                            <a:srgbClr val="444444"/>
                          </a:solidFill>
                        </a:rPr>
                        <a:t>Apex IT lead + FDE team</a:t>
                      </a:r>
                    </a:p>
                  </a:txBody>
                  <a:tcPr>
                    <a:solidFill>
                      <a:srgbClr val="E8F1FB"/>
                    </a:solidFill>
                  </a:tcPr>
                </a:tc>
                <a:tc>
                  <a:txBody>
                    <a:bodyPr/>
                    <a:lstStyle/>
                    <a:p>
                      <a:r>
                        <a:rPr sz="1000">
                          <a:solidFill>
                            <a:srgbClr val="444444"/>
                          </a:solidFill>
                        </a:rPr>
                        <a:t>Discovery call scheduled</a:t>
                      </a:r>
                    </a:p>
                  </a:txBody>
                  <a:tcPr>
                    <a:solidFill>
                      <a:srgbClr val="E8F1FB"/>
                    </a:solidFill>
                  </a:tcPr>
                </a:tc>
                <a:tc>
                  <a:txBody>
                    <a:bodyPr/>
                    <a:lstStyle/>
                    <a:p>
                      <a:r>
                        <a:rPr sz="1000">
                          <a:solidFill>
                            <a:srgbClr val="444444"/>
                          </a:solidFill>
                        </a:rPr>
                        <a:t>[DATE + 2 weeks]</a:t>
                      </a:r>
                    </a:p>
                  </a:txBody>
                  <a:tcPr>
                    <a:solidFill>
                      <a:srgbClr val="E8F1FB"/>
                    </a:solidFill>
                  </a:tcPr>
                </a:tc>
              </a:tr>
              <a:tr h="877824">
                <a:tc>
                  <a:txBody>
                    <a:bodyPr/>
                    <a:lstStyle/>
                    <a:p>
                      <a:r>
                        <a:rPr sz="1000">
                          <a:solidFill>
                            <a:srgbClr val="444444"/>
                          </a:solidFill>
                        </a:rPr>
                        <a:t>Confirm Salesforce configuration: is an Approval Process or Flow available to enforce the system-level approval gate?</a:t>
                      </a:r>
                    </a:p>
                  </a:txBody>
                  <a:tcPr>
                    <a:solidFill>
                      <a:srgbClr val="FFFFFF"/>
                    </a:solidFill>
                  </a:tcPr>
                </a:tc>
                <a:tc>
                  <a:txBody>
                    <a:bodyPr/>
                    <a:lstStyle/>
                    <a:p>
                      <a:r>
                        <a:rPr sz="1000">
                          <a:solidFill>
                            <a:srgbClr val="444444"/>
                          </a:solidFill>
                        </a:rPr>
                        <a:t>Apex Salesforce admin</a:t>
                      </a:r>
                    </a:p>
                  </a:txBody>
                  <a:tcPr>
                    <a:solidFill>
                      <a:srgbClr val="FFFFFF"/>
                    </a:solidFill>
                  </a:tcPr>
                </a:tc>
                <a:tc>
                  <a:txBody>
                    <a:bodyPr/>
                    <a:lstStyle/>
                    <a:p>
                      <a:r>
                        <a:rPr sz="1000">
                          <a:solidFill>
                            <a:srgbClr val="444444"/>
                          </a:solidFill>
                        </a:rPr>
                        <a:t>Admin access</a:t>
                      </a:r>
                    </a:p>
                  </a:txBody>
                  <a:tcPr>
                    <a:solidFill>
                      <a:srgbClr val="FFFFFF"/>
                    </a:solidFill>
                  </a:tcPr>
                </a:tc>
                <a:tc>
                  <a:txBody>
                    <a:bodyPr/>
                    <a:lstStyle/>
                    <a:p>
                      <a:r>
                        <a:rPr sz="1000">
                          <a:solidFill>
                            <a:srgbClr val="444444"/>
                          </a:solidFill>
                        </a:rPr>
                        <a:t>[DATE + 2 weeks]</a:t>
                      </a:r>
                    </a:p>
                  </a:txBody>
                  <a:tcPr>
                    <a:solidFill>
                      <a:srgbClr val="FFFFFF"/>
                    </a:solidFill>
                  </a:tcPr>
                </a:tc>
              </a:tr>
              <a:tr h="877824">
                <a:tc>
                  <a:txBody>
                    <a:bodyPr/>
                    <a:lstStyle/>
                    <a:p>
                      <a:r>
                        <a:rPr sz="1000">
                          <a:solidFill>
                            <a:srgbClr val="444444"/>
                          </a:solidFill>
                        </a:rPr>
                        <a:t>Commission formal credit policy document: explicit rules per dispute type, approved credit amounts, and named approval threshold</a:t>
                      </a:r>
                    </a:p>
                  </a:txBody>
                  <a:tcPr>
                    <a:solidFill>
                      <a:srgbClr val="E8F1FB"/>
                    </a:solidFill>
                  </a:tcPr>
                </a:tc>
                <a:tc>
                  <a:txBody>
                    <a:bodyPr/>
                    <a:lstStyle/>
                    <a:p>
                      <a:r>
                        <a:rPr sz="1000">
                          <a:solidFill>
                            <a:srgbClr val="444444"/>
                          </a:solidFill>
                        </a:rPr>
                        <a:t>COO + finance lead</a:t>
                      </a:r>
                    </a:p>
                  </a:txBody>
                  <a:tcPr>
                    <a:solidFill>
                      <a:srgbClr val="E8F1FB"/>
                    </a:solidFill>
                  </a:tcPr>
                </a:tc>
                <a:tc>
                  <a:txBody>
                    <a:bodyPr/>
                    <a:lstStyle/>
                    <a:p>
                      <a:r>
                        <a:rPr sz="1000">
                          <a:solidFill>
                            <a:srgbClr val="444444"/>
                          </a:solidFill>
                        </a:rPr>
                        <a:t>COO decision to proceed</a:t>
                      </a:r>
                    </a:p>
                  </a:txBody>
                  <a:tcPr>
                    <a:solidFill>
                      <a:srgbClr val="E8F1FB"/>
                    </a:solidFill>
                  </a:tcPr>
                </a:tc>
                <a:tc>
                  <a:txBody>
                    <a:bodyPr/>
                    <a:lstStyle/>
                    <a:p>
                      <a:r>
                        <a:rPr sz="1000">
                          <a:solidFill>
                            <a:srgbClr val="444444"/>
                          </a:solidFill>
                        </a:rPr>
                        <a:t>[DATE + 4 weeks]</a:t>
                      </a:r>
                    </a:p>
                  </a:txBody>
                  <a:tcPr>
                    <a:solidFill>
                      <a:srgbClr val="E8F1FB"/>
                    </a:solidFill>
                  </a:tcPr>
                </a:tc>
              </a:tr>
              <a:tr h="877824">
                <a:tc>
                  <a:txBody>
                    <a:bodyPr/>
                    <a:lstStyle/>
                    <a:p>
                      <a:r>
                        <a:rPr sz="1000">
                          <a:solidFill>
                            <a:srgbClr val="444444"/>
                          </a:solidFill>
                        </a:rPr>
                        <a:t>Identify 150 historical billing dispute cases from CRM archive for confidence calibration; confirm two senior billing agents available to label them independently</a:t>
                      </a:r>
                    </a:p>
                  </a:txBody>
                  <a:tcPr>
                    <a:solidFill>
                      <a:srgbClr val="FFFFFF"/>
                    </a:solidFill>
                  </a:tcPr>
                </a:tc>
                <a:tc>
                  <a:txBody>
                    <a:bodyPr/>
                    <a:lstStyle/>
                    <a:p>
                      <a:r>
                        <a:rPr sz="1000">
                          <a:solidFill>
                            <a:srgbClr val="444444"/>
                          </a:solidFill>
                        </a:rPr>
                        <a:t>Operations lead</a:t>
                      </a:r>
                    </a:p>
                  </a:txBody>
                  <a:tcPr>
                    <a:solidFill>
                      <a:srgbClr val="FFFFFF"/>
                    </a:solidFill>
                  </a:tcPr>
                </a:tc>
                <a:tc>
                  <a:txBody>
                    <a:bodyPr/>
                    <a:lstStyle/>
                    <a:p>
                      <a:r>
                        <a:rPr sz="1000">
                          <a:solidFill>
                            <a:srgbClr val="444444"/>
                          </a:solidFill>
                        </a:rPr>
                        <a:t>Credit policy draft complete</a:t>
                      </a:r>
                    </a:p>
                  </a:txBody>
                  <a:tcPr>
                    <a:solidFill>
                      <a:srgbClr val="FFFFFF"/>
                    </a:solidFill>
                  </a:tcPr>
                </a:tc>
                <a:tc>
                  <a:txBody>
                    <a:bodyPr/>
                    <a:lstStyle/>
                    <a:p>
                      <a:r>
                        <a:rPr sz="1000">
                          <a:solidFill>
                            <a:srgbClr val="444444"/>
                          </a:solidFill>
                        </a:rPr>
                        <a:t>[DATE + 5 weeks]</a:t>
                      </a:r>
                    </a:p>
                  </a:txBody>
                  <a:tcPr>
                    <a:solidFill>
                      <a:srgbClr val="FFFFFF"/>
                    </a:solidFill>
                  </a:tcPr>
                </a:tc>
              </a:tr>
            </a:tbl>
          </a:graphicData>
        </a:graphic>
      </p:graphicFrame>
      <p:sp>
        <p:nvSpPr>
          <p:cNvPr id="4" name="TextBox 3"/>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2E44"/>
        </a:solidFill>
        <a:effectLst/>
      </p:bgPr>
    </p:bg>
    <p:spTree>
      <p:nvGrpSpPr>
        <p:cNvPr id="1" name=""/>
        <p:cNvGrpSpPr/>
        <p:nvPr/>
      </p:nvGrpSpPr>
      <p:grpSpPr/>
      <p:sp>
        <p:nvSpPr>
          <p:cNvPr id="2" name="Rectangle 1"/>
          <p:cNvSpPr/>
          <p:nvPr/>
        </p:nvSpPr>
        <p:spPr>
          <a:xfrm>
            <a:off x="0" y="2926080"/>
            <a:ext cx="12188952" cy="73152"/>
          </a:xfrm>
          <a:prstGeom prst="rect">
            <a:avLst/>
          </a:prstGeom>
          <a:solidFill>
            <a:srgbClr val="1F61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548640"/>
          </a:xfrm>
          <a:prstGeom prst="rect">
            <a:avLst/>
          </a:prstGeom>
          <a:noFill/>
        </p:spPr>
        <p:txBody>
          <a:bodyPr wrap="square">
            <a:spAutoFit/>
          </a:bodyPr>
          <a:lstStyle/>
          <a:p>
            <a:pPr algn="ctr"/>
            <a:r>
              <a:rPr sz="2200" b="1">
                <a:solidFill>
                  <a:srgbClr val="FFFFFF"/>
                </a:solidFill>
              </a:rPr>
              <a:t>The Recommendation</a:t>
            </a:r>
          </a:p>
        </p:txBody>
      </p:sp>
      <p:sp>
        <p:nvSpPr>
          <p:cNvPr id="4" name="TextBox 3"/>
          <p:cNvSpPr txBox="1"/>
          <p:nvPr/>
        </p:nvSpPr>
        <p:spPr>
          <a:xfrm>
            <a:off x="914400" y="1600200"/>
            <a:ext cx="10332720" cy="1188720"/>
          </a:xfrm>
          <a:prstGeom prst="rect">
            <a:avLst/>
          </a:prstGeom>
          <a:noFill/>
        </p:spPr>
        <p:txBody>
          <a:bodyPr wrap="square">
            <a:spAutoFit/>
          </a:bodyPr>
          <a:lstStyle/>
          <a:p>
            <a:pPr algn="ctr"/>
            <a:r>
              <a:rPr sz="1700" b="0">
                <a:solidFill>
                  <a:srgbClr val="CCDDEE"/>
                </a:solidFill>
              </a:rPr>
              <a:t>Apex's billing dispute process is the strongest candidate for an AI agent in Customer Operations — a projected £175k annual saving with a 7-month payback — but two decisions must be made before build begins: what the credit policy says, and whether Aurum can accept a programmatic credit write.</a:t>
            </a:r>
          </a:p>
        </p:txBody>
      </p:sp>
      <p:sp>
        <p:nvSpPr>
          <p:cNvPr id="5" name="TextBox 4"/>
          <p:cNvSpPr txBox="1"/>
          <p:nvPr/>
        </p:nvSpPr>
        <p:spPr>
          <a:xfrm>
            <a:off x="914400" y="3246120"/>
            <a:ext cx="10332720" cy="365760"/>
          </a:xfrm>
          <a:prstGeom prst="rect">
            <a:avLst/>
          </a:prstGeom>
          <a:noFill/>
        </p:spPr>
        <p:txBody>
          <a:bodyPr wrap="square">
            <a:spAutoFit/>
          </a:bodyPr>
          <a:lstStyle/>
          <a:p>
            <a:pPr algn="ctr"/>
            <a:r>
              <a:rPr sz="1400" b="0">
                <a:solidFill>
                  <a:srgbClr val="88AACC"/>
                </a:solidFill>
              </a:rPr>
              <a:t>Contact: [NAME]  |  [EMAIL]</a:t>
            </a:r>
          </a:p>
        </p:txBody>
      </p:sp>
      <p:sp>
        <p:nvSpPr>
          <p:cNvPr id="6" name="TextBox 5"/>
          <p:cNvSpPr txBox="1"/>
          <p:nvPr/>
        </p:nvSpPr>
        <p:spPr>
          <a:xfrm>
            <a:off x="914400" y="3639312"/>
            <a:ext cx="10332720" cy="365760"/>
          </a:xfrm>
          <a:prstGeom prst="rect">
            <a:avLst/>
          </a:prstGeom>
          <a:noFill/>
        </p:spPr>
        <p:txBody>
          <a:bodyPr wrap="square">
            <a:spAutoFit/>
          </a:bodyPr>
          <a:lstStyle/>
          <a:p>
            <a:pPr algn="ctr"/>
            <a:r>
              <a:rPr sz="1400" b="0">
                <a:solidFill>
                  <a:srgbClr val="88AACC"/>
                </a:solidFill>
              </a:rPr>
              <a:t>Next meeting: [DATE]</a:t>
            </a:r>
          </a:p>
        </p:txBody>
      </p:sp>
      <p:sp>
        <p:nvSpPr>
          <p:cNvPr id="7" name="TextBox 6"/>
          <p:cNvSpPr txBox="1"/>
          <p:nvPr/>
        </p:nvSpPr>
        <p:spPr>
          <a:xfrm>
            <a:off x="182880" y="6537960"/>
            <a:ext cx="11795760" cy="274320"/>
          </a:xfrm>
          <a:prstGeom prst="rect">
            <a:avLst/>
          </a:prstGeom>
          <a:noFill/>
        </p:spPr>
        <p:txBody>
          <a:bodyPr wrap="square">
            <a:spAutoFit/>
          </a:bodyPr>
          <a:lstStyle/>
          <a:p>
            <a:pPr algn="ctr"/>
            <a:r>
              <a:rPr sz="900" b="0">
                <a:solidFill>
                  <a:srgbClr val="999999"/>
                </a:solidFill>
              </a:rPr>
              <a:t>Apex Distribution Ltd  |  Billing Disputes — Assessment &amp; Proposed Solution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